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6" r:id="rId2"/>
    <p:sldId id="263" r:id="rId3"/>
    <p:sldId id="269" r:id="rId4"/>
    <p:sldId id="265" r:id="rId5"/>
    <p:sldId id="257" r:id="rId6"/>
    <p:sldId id="258" r:id="rId7"/>
    <p:sldId id="259" r:id="rId8"/>
    <p:sldId id="260" r:id="rId9"/>
    <p:sldId id="270" r:id="rId10"/>
    <p:sldId id="261" r:id="rId11"/>
    <p:sldId id="266" r:id="rId12"/>
    <p:sldId id="267" r:id="rId13"/>
    <p:sldId id="268" r:id="rId14"/>
    <p:sldId id="264" r:id="rId15"/>
    <p:sldId id="271" r:id="rId16"/>
    <p:sldId id="272" r:id="rId17"/>
    <p:sldId id="26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62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7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32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0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0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9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1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7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65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</a:t>
            </a:r>
            <a:r>
              <a:rPr lang="en-US" dirty="0"/>
              <a:t>ICTE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EF0-B7FB-C4C0-23E1-28CCE3EE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12D21-4CF9-F316-3909-4F7AA9DA5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Ashok Bhattarai</a:t>
            </a:r>
          </a:p>
          <a:p>
            <a:r>
              <a:rPr lang="en-US" dirty="0"/>
              <a:t>Cloud Computing Instructor</a:t>
            </a:r>
          </a:p>
          <a:p>
            <a:r>
              <a:rPr lang="en-US" dirty="0"/>
              <a:t>BE Computer | Masters in Computer Science</a:t>
            </a:r>
          </a:p>
          <a:p>
            <a:r>
              <a:rPr lang="en-US" dirty="0"/>
              <a:t>Senior Software Engineer, Cedar Gate Technologies</a:t>
            </a:r>
          </a:p>
          <a:p>
            <a:r>
              <a:rPr lang="en-US" dirty="0"/>
              <a:t>LinkedIn: linkedin.com/in/</a:t>
            </a:r>
            <a:r>
              <a:rPr lang="en-US" dirty="0" err="1"/>
              <a:t>ashokbhattarai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6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928F-C0BF-0303-A98E-C78862B6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Computing?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A5EEBA-D0F7-072A-0444-B4D0291D6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010" y="1846263"/>
            <a:ext cx="717642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3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677C-F300-C32E-1F3B-E78ABC3F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399CA-CAC5-33EC-6357-5DA5BC7D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means using someone else’s computer over the internet.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Delivery of computing services over the internet</a:t>
            </a:r>
          </a:p>
          <a:p>
            <a:pPr marL="0" indent="0">
              <a:buNone/>
            </a:pPr>
            <a:r>
              <a:rPr dirty="0"/>
              <a:t>• Includes servers, storage, databases, networking</a:t>
            </a:r>
          </a:p>
          <a:p>
            <a:pPr marL="0" indent="0">
              <a:buNone/>
            </a:pPr>
            <a:r>
              <a:rPr dirty="0"/>
              <a:t>• Pay-as-you-go model</a:t>
            </a:r>
          </a:p>
          <a:p>
            <a:pPr marL="0" indent="0">
              <a:buNone/>
            </a:pPr>
            <a:r>
              <a:rPr dirty="0"/>
              <a:t>• Enables flexibility, scalability, and cost savings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Learn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🚀 High Demand &amp; Career Growth</a:t>
            </a:r>
          </a:p>
          <a:p>
            <a:r>
              <a:rPr lang="en-US" dirty="0"/>
              <a:t>Cloud skills are among the top requirements globally, opening doors to high-paying IT jobs.</a:t>
            </a:r>
          </a:p>
          <a:p>
            <a:r>
              <a:rPr lang="en-US" b="1" dirty="0"/>
              <a:t>☁️ Future of Technology</a:t>
            </a:r>
          </a:p>
          <a:p>
            <a:r>
              <a:rPr lang="en-US" dirty="0"/>
              <a:t>Most companies are migrating to the cloud—banks, startups, hospitals, governments.</a:t>
            </a:r>
          </a:p>
          <a:p>
            <a:r>
              <a:rPr lang="en-US" b="1" dirty="0"/>
              <a:t>⚡ Build &amp; Deploy Faster</a:t>
            </a:r>
          </a:p>
          <a:p>
            <a:r>
              <a:rPr lang="en-US" dirty="0"/>
              <a:t>Create servers, databases, and apps in minutes.</a:t>
            </a:r>
          </a:p>
          <a:p>
            <a:r>
              <a:rPr lang="en-US" b="1" dirty="0"/>
              <a:t>💰 Cost Efficient</a:t>
            </a:r>
          </a:p>
          <a:p>
            <a:r>
              <a:rPr lang="en-US" dirty="0"/>
              <a:t>Organizations save huge amounts by switching from physical data centers.</a:t>
            </a:r>
          </a:p>
          <a:p>
            <a:r>
              <a:rPr lang="en-US" b="1" dirty="0"/>
              <a:t>🔒 Secure &amp; Reliable</a:t>
            </a:r>
          </a:p>
          <a:p>
            <a:r>
              <a:rPr lang="en-US" dirty="0"/>
              <a:t>Cloud provides industry-grade security, backups, and disaster recovery.</a:t>
            </a:r>
          </a:p>
          <a:p>
            <a:r>
              <a:rPr lang="en-US" b="1" dirty="0"/>
              <a:t>🌍 Learn With Free Resources</a:t>
            </a:r>
          </a:p>
          <a:p>
            <a:r>
              <a:rPr lang="en-US" dirty="0"/>
              <a:t>AWS, Azure, and GCP all provide free tiers suitable for students.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Cloud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</a:t>
            </a:r>
            <a:r>
              <a:rPr dirty="0"/>
              <a:t> Google Drive, Gmail</a:t>
            </a:r>
          </a:p>
          <a:p>
            <a:pPr marL="0" indent="0">
              <a:buNone/>
            </a:pPr>
            <a:r>
              <a:rPr dirty="0"/>
              <a:t>• Microsoft Azure &amp; Office 365</a:t>
            </a:r>
          </a:p>
          <a:p>
            <a:pPr marL="0" indent="0">
              <a:buNone/>
            </a:pPr>
            <a:r>
              <a:rPr dirty="0"/>
              <a:t>• Amazon Web Services (AWS)</a:t>
            </a:r>
          </a:p>
          <a:p>
            <a:pPr marL="0" indent="0">
              <a:buNone/>
            </a:pPr>
            <a:r>
              <a:rPr dirty="0"/>
              <a:t>• Zoom, YouTube, Facebook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Cloud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Public Cloud</a:t>
            </a:r>
          </a:p>
          <a:p>
            <a:pPr marL="0" indent="0">
              <a:buNone/>
            </a:pPr>
            <a:r>
              <a:rPr dirty="0"/>
              <a:t>• Private Cloud</a:t>
            </a:r>
          </a:p>
          <a:p>
            <a:pPr marL="0" indent="0">
              <a:buNone/>
            </a:pPr>
            <a:r>
              <a:rPr dirty="0"/>
              <a:t>• Hybrid Cloud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Community Cloud</a:t>
            </a:r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4B3D-1CCF-A93F-6903-364A9F48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Cloud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08BA6-6A18-98DD-82D7-9238A600E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🌐 Public Cloud (Example: AWS, Azure, GCP)</a:t>
            </a:r>
          </a:p>
          <a:p>
            <a:r>
              <a:rPr lang="en-US" dirty="0"/>
              <a:t>Services shared over the internet</a:t>
            </a:r>
          </a:p>
          <a:p>
            <a:r>
              <a:rPr lang="en-US" b="1" dirty="0"/>
              <a:t>Example:</a:t>
            </a:r>
            <a:r>
              <a:rPr lang="en-US" dirty="0"/>
              <a:t> Hosting a website on AWS EC2</a:t>
            </a:r>
          </a:p>
          <a:p>
            <a:r>
              <a:rPr lang="en-US" b="1" dirty="0"/>
              <a:t>🏢 Private Cloud (Example: OpenStack, VMware)</a:t>
            </a:r>
          </a:p>
          <a:p>
            <a:r>
              <a:rPr lang="en-US" dirty="0"/>
              <a:t>Dedicated infrastructure for one organization</a:t>
            </a:r>
          </a:p>
          <a:p>
            <a:r>
              <a:rPr lang="en-US" b="1" dirty="0"/>
              <a:t>Example:</a:t>
            </a:r>
            <a:r>
              <a:rPr lang="en-US" dirty="0"/>
              <a:t> A bank running its secure applications on its own private cloud</a:t>
            </a:r>
          </a:p>
          <a:p>
            <a:r>
              <a:rPr lang="en-US" b="1" dirty="0"/>
              <a:t>🔄 Hybrid Cloud (Example: AWS Outposts, Azure Stack)</a:t>
            </a:r>
          </a:p>
          <a:p>
            <a:r>
              <a:rPr lang="en-US" dirty="0"/>
              <a:t>Combination of public + private cloud</a:t>
            </a:r>
          </a:p>
          <a:p>
            <a:r>
              <a:rPr lang="en-US" b="1" dirty="0"/>
              <a:t>Example:</a:t>
            </a:r>
            <a:r>
              <a:rPr lang="en-US" dirty="0"/>
              <a:t> Company stores sensitive data privately but uses public cloud for apps</a:t>
            </a:r>
          </a:p>
          <a:p>
            <a:r>
              <a:rPr lang="en-US" b="1" dirty="0"/>
              <a:t>👥 Community Cloud</a:t>
            </a:r>
          </a:p>
          <a:p>
            <a:r>
              <a:rPr lang="en-US" dirty="0"/>
              <a:t>Shared by specific communities or organizations</a:t>
            </a:r>
          </a:p>
          <a:p>
            <a:r>
              <a:rPr lang="en-US" b="1" dirty="0"/>
              <a:t>Example:</a:t>
            </a:r>
            <a:r>
              <a:rPr lang="en-US" dirty="0"/>
              <a:t> Universities sharing a cloud for research collaboration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26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Infrastructure as a Service (IaaS)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You rent a kitchen, buy raw materials, you cook yourself</a:t>
            </a:r>
            <a:endParaRPr dirty="0"/>
          </a:p>
          <a:p>
            <a:pPr marL="0" indent="0">
              <a:buNone/>
            </a:pPr>
            <a:r>
              <a:rPr dirty="0"/>
              <a:t>• Platform as a Service (PaaS)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They give you the kitchen + gas + utensils; just cook</a:t>
            </a:r>
            <a:endParaRPr dirty="0"/>
          </a:p>
          <a:p>
            <a:pPr marL="0" indent="0">
              <a:buNone/>
            </a:pPr>
            <a:r>
              <a:rPr dirty="0"/>
              <a:t>• Software as a Service (SaaS)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You order ready-made </a:t>
            </a:r>
            <a:r>
              <a:rPr lang="en-US" dirty="0" err="1"/>
              <a:t>momo</a:t>
            </a:r>
            <a:r>
              <a:rPr lang="en-US" dirty="0"/>
              <a:t> and eat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B0DA-AA5C-34A8-4AC8-7F54B07E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4E94-6114-7D2D-1E9E-95F08A901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 for what you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purchasing hardware and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Ability to 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get </a:t>
            </a:r>
            <a:r>
              <a:rPr lang="en-US" b="1" dirty="0"/>
              <a:t>virtual machines, storage, network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Cloud gives hardware; you manage OS, apps, data.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Amazon EC2</a:t>
            </a:r>
            <a:r>
              <a:rPr lang="en-US" dirty="0"/>
              <a:t> (Virtual servers)</a:t>
            </a:r>
          </a:p>
          <a:p>
            <a:r>
              <a:rPr lang="en-US" b="1" dirty="0"/>
              <a:t>Microsoft Azure VM</a:t>
            </a:r>
            <a:endParaRPr lang="en-US" dirty="0"/>
          </a:p>
          <a:p>
            <a:r>
              <a:rPr lang="en-US" b="1" dirty="0"/>
              <a:t>Google Compute Engine</a:t>
            </a:r>
            <a:endParaRPr lang="en-US" dirty="0"/>
          </a:p>
          <a:p>
            <a:r>
              <a:rPr lang="en-US" b="1" dirty="0" err="1"/>
              <a:t>DigitalOcean</a:t>
            </a:r>
            <a:r>
              <a:rPr lang="en-US" b="1" dirty="0"/>
              <a:t> Droplets</a:t>
            </a:r>
            <a:endParaRPr lang="en-US" dirty="0"/>
          </a:p>
          <a:p>
            <a:r>
              <a:rPr lang="en-US" b="1" dirty="0"/>
              <a:t>AWS S3</a:t>
            </a:r>
            <a:r>
              <a:rPr lang="en-US" dirty="0"/>
              <a:t> (Storage Service)</a:t>
            </a:r>
          </a:p>
          <a:p>
            <a:r>
              <a:rPr lang="en-US" i="1" dirty="0"/>
              <a:t>“IaaS = Renting a computer in the cloud.”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94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6DA67-5C98-4498-9B33-ACD33044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5BBA-D69A-E740-9294-EFF8BDFB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get </a:t>
            </a:r>
            <a:r>
              <a:rPr lang="en-US" b="1" dirty="0"/>
              <a:t>runtime environment, OS, database, middleware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You deploy code; platform handles everything else.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AWS Elastic Beanstalk</a:t>
            </a:r>
            <a:endParaRPr lang="en-US" dirty="0"/>
          </a:p>
          <a:p>
            <a:r>
              <a:rPr lang="en-US" b="1" dirty="0"/>
              <a:t>Google App Engine</a:t>
            </a:r>
            <a:endParaRPr lang="en-US" dirty="0"/>
          </a:p>
          <a:p>
            <a:r>
              <a:rPr lang="en-US" b="1" dirty="0"/>
              <a:t>Heroku</a:t>
            </a:r>
            <a:endParaRPr lang="en-US" dirty="0"/>
          </a:p>
          <a:p>
            <a:r>
              <a:rPr lang="en-US" b="1" dirty="0"/>
              <a:t>Microsoft Azure App Service</a:t>
            </a:r>
            <a:endParaRPr lang="en-US" dirty="0"/>
          </a:p>
          <a:p>
            <a:r>
              <a:rPr lang="en-US" b="1" dirty="0"/>
              <a:t>Firebase</a:t>
            </a:r>
            <a:endParaRPr lang="en-US" dirty="0"/>
          </a:p>
          <a:p>
            <a:r>
              <a:rPr lang="en-US" b="1" dirty="0"/>
              <a:t>OpenShift</a:t>
            </a:r>
            <a:endParaRPr lang="en-US" dirty="0"/>
          </a:p>
          <a:p>
            <a:r>
              <a:rPr lang="en-US" b="1" dirty="0"/>
              <a:t>Easy way to remember: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“PaaS = You bring the code. Cloud runs it.”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71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CD57-9372-BA2A-A61A-1870D9C2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0BF0-0D6E-F3A0-5F2C-A6D3F24E6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 get a </a:t>
            </a:r>
            <a:r>
              <a:rPr lang="en-US" b="1" dirty="0"/>
              <a:t>ready-made application</a:t>
            </a:r>
            <a:r>
              <a:rPr lang="en-US" dirty="0"/>
              <a:t> running on the internet.</a:t>
            </a:r>
            <a:br>
              <a:rPr lang="en-US" dirty="0"/>
            </a:br>
            <a:r>
              <a:rPr lang="en-US" i="1" dirty="0"/>
              <a:t>Just use the software — no setup needed.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Gmail</a:t>
            </a:r>
            <a:endParaRPr lang="en-US" dirty="0"/>
          </a:p>
          <a:p>
            <a:r>
              <a:rPr lang="en-US" b="1" dirty="0"/>
              <a:t>Microsoft 365 / Office 365</a:t>
            </a:r>
            <a:endParaRPr lang="en-US" dirty="0"/>
          </a:p>
          <a:p>
            <a:r>
              <a:rPr lang="en-US" b="1" dirty="0"/>
              <a:t>Google Workspace</a:t>
            </a:r>
            <a:endParaRPr lang="en-US" dirty="0"/>
          </a:p>
          <a:p>
            <a:r>
              <a:rPr lang="en-US" b="1" dirty="0"/>
              <a:t>Zoom</a:t>
            </a:r>
            <a:endParaRPr lang="en-US" dirty="0"/>
          </a:p>
          <a:p>
            <a:r>
              <a:rPr lang="en-US" b="1" dirty="0"/>
              <a:t>Salesforce</a:t>
            </a:r>
            <a:endParaRPr lang="en-US" dirty="0"/>
          </a:p>
          <a:p>
            <a:r>
              <a:rPr lang="en-US" b="1" dirty="0"/>
              <a:t>Slack</a:t>
            </a:r>
            <a:endParaRPr lang="en-US" dirty="0"/>
          </a:p>
          <a:p>
            <a:r>
              <a:rPr lang="en-US" b="1" dirty="0"/>
              <a:t>Dropbox</a:t>
            </a:r>
            <a:endParaRPr lang="en-US" dirty="0"/>
          </a:p>
          <a:p>
            <a:r>
              <a:rPr lang="en-US" b="1" dirty="0"/>
              <a:t>Easy way to remember: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“SaaS = Use the software directly.”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4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1352-0654-DD9A-EE9D-6D68168B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Cloud Terms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1288D4-F77B-0826-3331-6910D5F6D1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Hard disk on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Data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Internet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Auto increase capacity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Availability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Always on</a:t>
            </a:r>
          </a:p>
        </p:txBody>
      </p:sp>
    </p:spTree>
    <p:extLst>
      <p:ext uri="{BB962C8B-B14F-4D97-AF65-F5344CB8AC3E}">
        <p14:creationId xmlns:p14="http://schemas.microsoft.com/office/powerpoint/2010/main" val="722247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FAEB-1557-2F9E-2AA0-0D5C5603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097B-B681-6A37-3BEB-724C8B9C4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🔒 1. Security &amp; Privacy Concerns</a:t>
            </a:r>
          </a:p>
          <a:p>
            <a:r>
              <a:rPr lang="en-US" dirty="0"/>
              <a:t>Data breaches and unauthorized access</a:t>
            </a:r>
          </a:p>
          <a:p>
            <a:r>
              <a:rPr lang="en-US" dirty="0"/>
              <a:t>Misconfigured cloud resources</a:t>
            </a:r>
          </a:p>
          <a:p>
            <a:r>
              <a:rPr lang="en-US" b="1" dirty="0"/>
              <a:t>🌐 2. Downtime &amp; Service Outages</a:t>
            </a:r>
          </a:p>
          <a:p>
            <a:r>
              <a:rPr lang="en-US" dirty="0"/>
              <a:t>Cloud provider outages can disrupt services</a:t>
            </a:r>
          </a:p>
          <a:p>
            <a:r>
              <a:rPr lang="en-US" dirty="0"/>
              <a:t>Dependency on internet connectivity</a:t>
            </a:r>
          </a:p>
          <a:p>
            <a:r>
              <a:rPr lang="en-US" b="1" dirty="0"/>
              <a:t>💰 3. Cost Management Issues</a:t>
            </a:r>
          </a:p>
          <a:p>
            <a:r>
              <a:rPr lang="en-US" dirty="0"/>
              <a:t>Unexpected costs due to improper monitoring</a:t>
            </a:r>
          </a:p>
          <a:p>
            <a:r>
              <a:rPr lang="en-US" dirty="0"/>
              <a:t>Pay-as-you-go model can increase cost if not optimized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274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14D0-021F-2FBA-1827-50A58D90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4B9A-E1BD-478F-AA04-1444AABF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76E89-9666-F97F-0C96-E3AE7D4D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🔄 4. Vendor Lock-In</a:t>
            </a:r>
          </a:p>
          <a:p>
            <a:r>
              <a:rPr lang="en-US" dirty="0"/>
              <a:t>Difficult to switch providers once fully integrated</a:t>
            </a:r>
          </a:p>
          <a:p>
            <a:r>
              <a:rPr lang="en-US" dirty="0"/>
              <a:t>Differences in tools, APIs, and architectures</a:t>
            </a:r>
          </a:p>
          <a:p>
            <a:r>
              <a:rPr lang="en-US" b="1" dirty="0"/>
              <a:t>🛠️ 5. Limited Control</a:t>
            </a:r>
          </a:p>
          <a:p>
            <a:r>
              <a:rPr lang="en-US" dirty="0"/>
              <a:t>Hardware, infrastructure, and some configurations are controlled by the provider</a:t>
            </a:r>
          </a:p>
          <a:p>
            <a:r>
              <a:rPr lang="en-US" b="1" dirty="0"/>
              <a:t>📜 6. Compliance &amp; Legal Issues</a:t>
            </a:r>
          </a:p>
          <a:p>
            <a:r>
              <a:rPr lang="en-US" dirty="0"/>
              <a:t>Challenges in meeting data residency and regulatory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44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Class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Course introduction</a:t>
            </a:r>
          </a:p>
          <a:p>
            <a:pPr marL="0" indent="0">
              <a:buNone/>
            </a:pPr>
            <a:r>
              <a:rPr dirty="0"/>
              <a:t>• What we will study in Cloud Computing</a:t>
            </a:r>
          </a:p>
          <a:p>
            <a:pPr marL="0" indent="0">
              <a:buNone/>
            </a:pPr>
            <a:r>
              <a:rPr dirty="0"/>
              <a:t>• Expectations and outcomes</a:t>
            </a:r>
          </a:p>
          <a:p>
            <a:pPr marL="0" indent="0">
              <a:buNone/>
            </a:pPr>
            <a:r>
              <a:rPr dirty="0"/>
              <a:t>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743</Words>
  <Application>Microsoft Office PowerPoint</Application>
  <PresentationFormat>On-screen Show (4:3)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Retrospect</vt:lpstr>
      <vt:lpstr>Cloud Computing</vt:lpstr>
      <vt:lpstr>Introduction</vt:lpstr>
      <vt:lpstr>What is Cloud Computing?</vt:lpstr>
      <vt:lpstr>What is Cloud Computing?</vt:lpstr>
      <vt:lpstr>What is Cloud Computing?</vt:lpstr>
      <vt:lpstr>Why Learn Cloud Computing?</vt:lpstr>
      <vt:lpstr>Examples of Cloud Services</vt:lpstr>
      <vt:lpstr>Types of Cloud Models</vt:lpstr>
      <vt:lpstr>Examples of Cloud Models</vt:lpstr>
      <vt:lpstr>Service Models</vt:lpstr>
      <vt:lpstr>IaaS</vt:lpstr>
      <vt:lpstr>PaaS</vt:lpstr>
      <vt:lpstr>SaaS</vt:lpstr>
      <vt:lpstr>Basic Cloud Terms</vt:lpstr>
      <vt:lpstr>Risk and Challenges</vt:lpstr>
      <vt:lpstr>Risk and Challenges</vt:lpstr>
      <vt:lpstr>Today's Class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Ashok Bhattarai</dc:creator>
  <cp:keywords/>
  <dc:description>generated using python-pptx</dc:description>
  <cp:lastModifiedBy>Ashok Bhattarai</cp:lastModifiedBy>
  <cp:revision>4</cp:revision>
  <dcterms:created xsi:type="dcterms:W3CDTF">2013-01-27T09:14:16Z</dcterms:created>
  <dcterms:modified xsi:type="dcterms:W3CDTF">2025-11-25T16:59:05Z</dcterms:modified>
  <cp:category/>
</cp:coreProperties>
</file>