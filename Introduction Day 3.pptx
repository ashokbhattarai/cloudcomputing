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59" d="100"/>
          <a:sy n="59" d="100"/>
        </p:scale>
        <p:origin x="60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02AC52-0C5A-489A-B1CF-4CF6DA3DEE32}" type="datetimeFigureOut">
              <a:rPr lang="en-US" smtClean="0"/>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26F6CC-B782-43C7-BC69-E7DCF16FFDD3}" type="slidenum">
              <a:rPr lang="en-US" smtClean="0"/>
              <a:t>‹#›</a:t>
            </a:fld>
            <a:endParaRPr lang="en-US"/>
          </a:p>
        </p:txBody>
      </p:sp>
    </p:spTree>
    <p:extLst>
      <p:ext uri="{BB962C8B-B14F-4D97-AF65-F5344CB8AC3E}">
        <p14:creationId xmlns:p14="http://schemas.microsoft.com/office/powerpoint/2010/main" val="739429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stands for the </a:t>
            </a:r>
            <a:r>
              <a:rPr lang="en-US" b="1" dirty="0">
                <a:effectLst/>
              </a:rPr>
              <a:t>National Institute of Standards and Technology</a:t>
            </a:r>
            <a:r>
              <a:rPr lang="en-US" sz="1200" b="0" i="0" kern="1200" dirty="0">
                <a:solidFill>
                  <a:schemeClr val="tx1"/>
                </a:solidFill>
                <a:effectLst/>
                <a:latin typeface="+mn-lt"/>
                <a:ea typeface="+mn-ea"/>
                <a:cs typeface="+mn-cs"/>
              </a:rPr>
              <a:t>, a U.S. government agency under the Department of Commerce that promotes innovation and industrial competitiveness by advancing measurement science, standards, and technology. NIST is best known for developing and maintaining standards and guidelines, especially in the areas of cybersecurity, to help organizations manage risk, protect data, and meet federal requirements</a:t>
            </a:r>
            <a:endParaRPr lang="en-US" dirty="0"/>
          </a:p>
        </p:txBody>
      </p:sp>
      <p:sp>
        <p:nvSpPr>
          <p:cNvPr id="4" name="Slide Number Placeholder 3"/>
          <p:cNvSpPr>
            <a:spLocks noGrp="1"/>
          </p:cNvSpPr>
          <p:nvPr>
            <p:ph type="sldNum" sz="quarter" idx="5"/>
          </p:nvPr>
        </p:nvSpPr>
        <p:spPr/>
        <p:txBody>
          <a:bodyPr/>
          <a:lstStyle/>
          <a:p>
            <a:fld id="{C726F6CC-B782-43C7-BC69-E7DCF16FFDD3}" type="slidenum">
              <a:rPr lang="en-US" smtClean="0"/>
              <a:t>1</a:t>
            </a:fld>
            <a:endParaRPr lang="en-US"/>
          </a:p>
        </p:txBody>
      </p:sp>
    </p:spTree>
    <p:extLst>
      <p:ext uri="{BB962C8B-B14F-4D97-AF65-F5344CB8AC3E}">
        <p14:creationId xmlns:p14="http://schemas.microsoft.com/office/powerpoint/2010/main" val="2246648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vertical scaling</a:t>
            </a:r>
            <a:r>
              <a:rPr lang="en-US" sz="1200" b="0" i="0" kern="1200" dirty="0">
                <a:solidFill>
                  <a:schemeClr val="tx1"/>
                </a:solidFill>
                <a:effectLst/>
                <a:latin typeface="+mn-lt"/>
                <a:ea typeface="+mn-ea"/>
                <a:cs typeface="+mn-cs"/>
              </a:rPr>
              <a:t>, which increases a single machine's capacity (e.g., adding more CPU or RAM), and </a:t>
            </a:r>
            <a:r>
              <a:rPr lang="en-US" sz="1200" b="1" i="0" kern="1200" dirty="0">
                <a:solidFill>
                  <a:schemeClr val="tx1"/>
                </a:solidFill>
                <a:effectLst/>
                <a:latin typeface="+mn-lt"/>
                <a:ea typeface="+mn-ea"/>
                <a:cs typeface="+mn-cs"/>
              </a:rPr>
              <a:t>horizontal scaling</a:t>
            </a:r>
            <a:r>
              <a:rPr lang="en-US" sz="1200" b="0" i="0" kern="1200" dirty="0">
                <a:solidFill>
                  <a:schemeClr val="tx1"/>
                </a:solidFill>
                <a:effectLst/>
                <a:latin typeface="+mn-lt"/>
                <a:ea typeface="+mn-ea"/>
                <a:cs typeface="+mn-cs"/>
              </a:rPr>
              <a:t>, which adds more machines to a pool to distribute the load (e.g., adding more web servers)</a:t>
            </a:r>
            <a:endParaRPr lang="en-US" dirty="0"/>
          </a:p>
        </p:txBody>
      </p:sp>
      <p:sp>
        <p:nvSpPr>
          <p:cNvPr id="4" name="Slide Number Placeholder 3"/>
          <p:cNvSpPr>
            <a:spLocks noGrp="1"/>
          </p:cNvSpPr>
          <p:nvPr>
            <p:ph type="sldNum" sz="quarter" idx="5"/>
          </p:nvPr>
        </p:nvSpPr>
        <p:spPr/>
        <p:txBody>
          <a:bodyPr/>
          <a:lstStyle/>
          <a:p>
            <a:fld id="{C726F6CC-B782-43C7-BC69-E7DCF16FFDD3}" type="slidenum">
              <a:rPr lang="en-US" smtClean="0"/>
              <a:t>5</a:t>
            </a:fld>
            <a:endParaRPr lang="en-US"/>
          </a:p>
        </p:txBody>
      </p:sp>
    </p:spTree>
    <p:extLst>
      <p:ext uri="{BB962C8B-B14F-4D97-AF65-F5344CB8AC3E}">
        <p14:creationId xmlns:p14="http://schemas.microsoft.com/office/powerpoint/2010/main" val="157249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8AABCC-2D0C-4AFB-95CC-853065C8CB9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E85D47-F850-4D13-A864-0CA8CD3A97B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1872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AABCC-2D0C-4AFB-95CC-853065C8CB9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E85D47-F850-4D13-A864-0CA8CD3A97B2}" type="slidenum">
              <a:rPr lang="en-US" smtClean="0"/>
              <a:t>‹#›</a:t>
            </a:fld>
            <a:endParaRPr lang="en-US"/>
          </a:p>
        </p:txBody>
      </p:sp>
    </p:spTree>
    <p:extLst>
      <p:ext uri="{BB962C8B-B14F-4D97-AF65-F5344CB8AC3E}">
        <p14:creationId xmlns:p14="http://schemas.microsoft.com/office/powerpoint/2010/main" val="2543747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8AABCC-2D0C-4AFB-95CC-853065C8CB9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E85D47-F850-4D13-A864-0CA8CD3A97B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180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8AABCC-2D0C-4AFB-95CC-853065C8CB90}"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E85D47-F850-4D13-A864-0CA8CD3A97B2}" type="slidenum">
              <a:rPr lang="en-US" smtClean="0"/>
              <a:t>‹#›</a:t>
            </a:fld>
            <a:endParaRPr lang="en-US"/>
          </a:p>
        </p:txBody>
      </p:sp>
    </p:spTree>
    <p:extLst>
      <p:ext uri="{BB962C8B-B14F-4D97-AF65-F5344CB8AC3E}">
        <p14:creationId xmlns:p14="http://schemas.microsoft.com/office/powerpoint/2010/main" val="2316872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8AABCC-2D0C-4AFB-95CC-853065C8CB90}" type="datetimeFigureOut">
              <a:rPr lang="en-US" smtClean="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E85D47-F850-4D13-A864-0CA8CD3A97B2}" type="slidenum">
              <a:rPr lang="en-US" smtClean="0"/>
              <a:t>‹#›</a:t>
            </a:fld>
            <a:endParaRPr lang="en-US"/>
          </a:p>
        </p:txBody>
      </p:sp>
    </p:spTree>
    <p:extLst>
      <p:ext uri="{BB962C8B-B14F-4D97-AF65-F5344CB8AC3E}">
        <p14:creationId xmlns:p14="http://schemas.microsoft.com/office/powerpoint/2010/main" val="420689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8AABCC-2D0C-4AFB-95CC-853065C8CB90}"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E85D47-F850-4D13-A864-0CA8CD3A97B2}" type="slidenum">
              <a:rPr lang="en-US" smtClean="0"/>
              <a:t>‹#›</a:t>
            </a:fld>
            <a:endParaRPr lang="en-US"/>
          </a:p>
        </p:txBody>
      </p:sp>
    </p:spTree>
    <p:extLst>
      <p:ext uri="{BB962C8B-B14F-4D97-AF65-F5344CB8AC3E}">
        <p14:creationId xmlns:p14="http://schemas.microsoft.com/office/powerpoint/2010/main" val="2165277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18AABCC-2D0C-4AFB-95CC-853065C8CB90}" type="datetimeFigureOut">
              <a:rPr lang="en-US" smtClean="0"/>
              <a:t>11/27/2025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FE85D47-F850-4D13-A864-0CA8CD3A97B2}" type="slidenum">
              <a:rPr lang="en-US" smtClean="0"/>
              <a:t>‹#›</a:t>
            </a:fld>
            <a:endParaRPr lang="en-US"/>
          </a:p>
        </p:txBody>
      </p:sp>
    </p:spTree>
    <p:extLst>
      <p:ext uri="{BB962C8B-B14F-4D97-AF65-F5344CB8AC3E}">
        <p14:creationId xmlns:p14="http://schemas.microsoft.com/office/powerpoint/2010/main" val="3272483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18AABCC-2D0C-4AFB-95CC-853065C8CB90}" type="datetimeFigureOut">
              <a:rPr lang="en-US" smtClean="0"/>
              <a:t>11/27/2025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FE85D47-F850-4D13-A864-0CA8CD3A97B2}" type="slidenum">
              <a:rPr lang="en-US" smtClean="0"/>
              <a:t>‹#›</a:t>
            </a:fld>
            <a:endParaRPr lang="en-US"/>
          </a:p>
        </p:txBody>
      </p:sp>
    </p:spTree>
    <p:extLst>
      <p:ext uri="{BB962C8B-B14F-4D97-AF65-F5344CB8AC3E}">
        <p14:creationId xmlns:p14="http://schemas.microsoft.com/office/powerpoint/2010/main" val="1209422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8AABCC-2D0C-4AFB-95CC-853065C8CB90}"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E85D47-F850-4D13-A864-0CA8CD3A97B2}" type="slidenum">
              <a:rPr lang="en-US" smtClean="0"/>
              <a:t>‹#›</a:t>
            </a:fld>
            <a:endParaRPr lang="en-US"/>
          </a:p>
        </p:txBody>
      </p:sp>
    </p:spTree>
    <p:extLst>
      <p:ext uri="{BB962C8B-B14F-4D97-AF65-F5344CB8AC3E}">
        <p14:creationId xmlns:p14="http://schemas.microsoft.com/office/powerpoint/2010/main" val="3945295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AABCC-2D0C-4AFB-95CC-853065C8CB9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E85D47-F850-4D13-A864-0CA8CD3A97B2}" type="slidenum">
              <a:rPr lang="en-US" smtClean="0"/>
              <a:t>‹#›</a:t>
            </a:fld>
            <a:endParaRPr lang="en-US"/>
          </a:p>
        </p:txBody>
      </p:sp>
    </p:spTree>
    <p:extLst>
      <p:ext uri="{BB962C8B-B14F-4D97-AF65-F5344CB8AC3E}">
        <p14:creationId xmlns:p14="http://schemas.microsoft.com/office/powerpoint/2010/main" val="1811942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AABCC-2D0C-4AFB-95CC-853065C8CB9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E85D47-F850-4D13-A864-0CA8CD3A97B2}" type="slidenum">
              <a:rPr lang="en-US" smtClean="0"/>
              <a:t>‹#›</a:t>
            </a:fld>
            <a:endParaRPr lang="en-US"/>
          </a:p>
        </p:txBody>
      </p:sp>
    </p:spTree>
    <p:extLst>
      <p:ext uri="{BB962C8B-B14F-4D97-AF65-F5344CB8AC3E}">
        <p14:creationId xmlns:p14="http://schemas.microsoft.com/office/powerpoint/2010/main" val="2678939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18AABCC-2D0C-4AFB-95CC-853065C8CB90}" type="datetimeFigureOut">
              <a:rPr lang="en-US" smtClean="0"/>
              <a:t>11/27/2025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FE85D47-F850-4D13-A864-0CA8CD3A97B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6186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FFB3D-A4C0-9FE2-1841-E69D6D16BF49}"/>
              </a:ext>
            </a:extLst>
          </p:cNvPr>
          <p:cNvSpPr>
            <a:spLocks noGrp="1"/>
          </p:cNvSpPr>
          <p:nvPr>
            <p:ph type="ctrTitle"/>
          </p:nvPr>
        </p:nvSpPr>
        <p:spPr/>
        <p:txBody>
          <a:bodyPr/>
          <a:lstStyle/>
          <a:p>
            <a:r>
              <a:rPr lang="en-US" dirty="0"/>
              <a:t>Introduction</a:t>
            </a:r>
          </a:p>
        </p:txBody>
      </p:sp>
      <p:sp>
        <p:nvSpPr>
          <p:cNvPr id="3" name="Subtitle 2">
            <a:extLst>
              <a:ext uri="{FF2B5EF4-FFF2-40B4-BE49-F238E27FC236}">
                <a16:creationId xmlns:a16="http://schemas.microsoft.com/office/drawing/2014/main" id="{DAC2E7A8-4BC7-4B62-2B7A-FFDA0D0B3AC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220630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9986-48C5-253D-2D98-F673F9858B39}"/>
              </a:ext>
            </a:extLst>
          </p:cNvPr>
          <p:cNvSpPr>
            <a:spLocks noGrp="1"/>
          </p:cNvSpPr>
          <p:nvPr>
            <p:ph type="title"/>
          </p:nvPr>
        </p:nvSpPr>
        <p:spPr/>
        <p:txBody>
          <a:bodyPr/>
          <a:lstStyle/>
          <a:p>
            <a:r>
              <a:rPr lang="en-US" dirty="0"/>
              <a:t>Five Essential Characteristics (NIST Definition)</a:t>
            </a:r>
          </a:p>
        </p:txBody>
      </p:sp>
      <p:sp>
        <p:nvSpPr>
          <p:cNvPr id="3" name="Content Placeholder 2">
            <a:extLst>
              <a:ext uri="{FF2B5EF4-FFF2-40B4-BE49-F238E27FC236}">
                <a16:creationId xmlns:a16="http://schemas.microsoft.com/office/drawing/2014/main" id="{00E5D92F-BF3F-57E9-5CAA-DA90D3884457}"/>
              </a:ext>
            </a:extLst>
          </p:cNvPr>
          <p:cNvSpPr>
            <a:spLocks noGrp="1"/>
          </p:cNvSpPr>
          <p:nvPr>
            <p:ph idx="1"/>
          </p:nvPr>
        </p:nvSpPr>
        <p:spPr/>
        <p:txBody>
          <a:bodyPr>
            <a:normAutofit/>
          </a:bodyPr>
          <a:lstStyle/>
          <a:p>
            <a:pPr>
              <a:spcBef>
                <a:spcPts val="900"/>
              </a:spcBef>
              <a:buNone/>
            </a:pPr>
            <a:r>
              <a:rPr lang="en-US" b="1" dirty="0">
                <a:solidFill>
                  <a:srgbClr val="000000"/>
                </a:solidFill>
                <a:effectLst/>
              </a:rPr>
              <a:t>1. On-Demand Self-Service</a:t>
            </a:r>
          </a:p>
          <a:p>
            <a:pPr>
              <a:spcBef>
                <a:spcPts val="600"/>
              </a:spcBef>
              <a:buFont typeface="Arial" panose="020B0604020202020204" pitchFamily="34" charset="0"/>
              <a:buChar char="•"/>
            </a:pPr>
            <a:r>
              <a:rPr lang="en-US" dirty="0">
                <a:solidFill>
                  <a:srgbClr val="000000"/>
                </a:solidFill>
                <a:effectLst/>
              </a:rPr>
              <a:t>Users can provision computing resources automatically</a:t>
            </a:r>
          </a:p>
          <a:p>
            <a:pPr>
              <a:spcBef>
                <a:spcPts val="600"/>
              </a:spcBef>
              <a:buFont typeface="Arial" panose="020B0604020202020204" pitchFamily="34" charset="0"/>
              <a:buChar char="•"/>
            </a:pPr>
            <a:r>
              <a:rPr lang="en-US" dirty="0">
                <a:solidFill>
                  <a:srgbClr val="000000"/>
                </a:solidFill>
                <a:effectLst/>
              </a:rPr>
              <a:t>No human interaction required with service provider</a:t>
            </a:r>
          </a:p>
          <a:p>
            <a:pPr>
              <a:spcBef>
                <a:spcPts val="600"/>
              </a:spcBef>
              <a:buFont typeface="Arial" panose="020B0604020202020204" pitchFamily="34" charset="0"/>
              <a:buChar char="•"/>
            </a:pPr>
            <a:r>
              <a:rPr lang="en-US" b="1" dirty="0">
                <a:solidFill>
                  <a:srgbClr val="000000"/>
                </a:solidFill>
                <a:effectLst/>
              </a:rPr>
              <a:t>Example:</a:t>
            </a:r>
            <a:r>
              <a:rPr lang="en-US" dirty="0">
                <a:solidFill>
                  <a:srgbClr val="000000"/>
                </a:solidFill>
                <a:effectLst/>
              </a:rPr>
              <a:t> Creating a virtual machine in minutes through a web portal</a:t>
            </a:r>
          </a:p>
          <a:p>
            <a:pPr>
              <a:spcBef>
                <a:spcPts val="1200"/>
              </a:spcBef>
              <a:buNone/>
            </a:pPr>
            <a:r>
              <a:rPr lang="en-US" b="1" dirty="0">
                <a:solidFill>
                  <a:srgbClr val="000000"/>
                </a:solidFill>
                <a:effectLst/>
              </a:rPr>
              <a:t>2. Broad Network Access</a:t>
            </a:r>
          </a:p>
          <a:p>
            <a:pPr>
              <a:spcBef>
                <a:spcPts val="600"/>
              </a:spcBef>
              <a:buFont typeface="Arial" panose="020B0604020202020204" pitchFamily="34" charset="0"/>
              <a:buChar char="•"/>
            </a:pPr>
            <a:r>
              <a:rPr lang="en-US" dirty="0">
                <a:solidFill>
                  <a:srgbClr val="000000"/>
                </a:solidFill>
                <a:effectLst/>
              </a:rPr>
              <a:t>Available over the network via standard mechanisms</a:t>
            </a:r>
          </a:p>
          <a:p>
            <a:pPr>
              <a:spcBef>
                <a:spcPts val="600"/>
              </a:spcBef>
              <a:buFont typeface="Arial" panose="020B0604020202020204" pitchFamily="34" charset="0"/>
              <a:buChar char="•"/>
            </a:pPr>
            <a:r>
              <a:rPr lang="en-US" dirty="0">
                <a:solidFill>
                  <a:srgbClr val="000000"/>
                </a:solidFill>
                <a:effectLst/>
              </a:rPr>
              <a:t>Accessible through heterogeneous platforms (mobile, tablet, laptop, workstation)</a:t>
            </a:r>
          </a:p>
          <a:p>
            <a:pPr>
              <a:spcBef>
                <a:spcPts val="600"/>
              </a:spcBef>
              <a:buFont typeface="Arial" panose="020B0604020202020204" pitchFamily="34" charset="0"/>
              <a:buChar char="•"/>
            </a:pPr>
            <a:r>
              <a:rPr lang="en-US" b="1" dirty="0">
                <a:solidFill>
                  <a:srgbClr val="000000"/>
                </a:solidFill>
                <a:effectLst/>
              </a:rPr>
              <a:t>Example:</a:t>
            </a:r>
            <a:r>
              <a:rPr lang="en-US" dirty="0">
                <a:solidFill>
                  <a:srgbClr val="000000"/>
                </a:solidFill>
                <a:effectLst/>
              </a:rPr>
              <a:t> Accessing Gmail from any device, anywhere</a:t>
            </a:r>
          </a:p>
          <a:p>
            <a:pPr marL="0" indent="0">
              <a:buNone/>
            </a:pPr>
            <a:endParaRPr lang="en-US" dirty="0"/>
          </a:p>
        </p:txBody>
      </p:sp>
    </p:spTree>
    <p:extLst>
      <p:ext uri="{BB962C8B-B14F-4D97-AF65-F5344CB8AC3E}">
        <p14:creationId xmlns:p14="http://schemas.microsoft.com/office/powerpoint/2010/main" val="1755314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35171-7A6D-EDC6-243D-01130A3188F3}"/>
              </a:ext>
            </a:extLst>
          </p:cNvPr>
          <p:cNvSpPr>
            <a:spLocks noGrp="1"/>
          </p:cNvSpPr>
          <p:nvPr>
            <p:ph type="title"/>
          </p:nvPr>
        </p:nvSpPr>
        <p:spPr/>
        <p:txBody>
          <a:bodyPr/>
          <a:lstStyle/>
          <a:p>
            <a:r>
              <a:rPr lang="en-US" dirty="0"/>
              <a:t>Five Essential Characteristics (Continued)</a:t>
            </a:r>
          </a:p>
        </p:txBody>
      </p:sp>
      <p:sp>
        <p:nvSpPr>
          <p:cNvPr id="3" name="Content Placeholder 2">
            <a:extLst>
              <a:ext uri="{FF2B5EF4-FFF2-40B4-BE49-F238E27FC236}">
                <a16:creationId xmlns:a16="http://schemas.microsoft.com/office/drawing/2014/main" id="{57A2EEE6-DE70-C572-0E2D-F34CBA3AB4D7}"/>
              </a:ext>
            </a:extLst>
          </p:cNvPr>
          <p:cNvSpPr>
            <a:spLocks noGrp="1"/>
          </p:cNvSpPr>
          <p:nvPr>
            <p:ph idx="1"/>
          </p:nvPr>
        </p:nvSpPr>
        <p:spPr/>
        <p:txBody>
          <a:bodyPr>
            <a:normAutofit/>
          </a:bodyPr>
          <a:lstStyle/>
          <a:p>
            <a:pPr>
              <a:spcBef>
                <a:spcPts val="900"/>
              </a:spcBef>
              <a:buNone/>
            </a:pPr>
            <a:r>
              <a:rPr lang="en-US" b="1" dirty="0">
                <a:solidFill>
                  <a:srgbClr val="000000"/>
                </a:solidFill>
                <a:effectLst/>
              </a:rPr>
              <a:t>3. Resource Pooling</a:t>
            </a:r>
          </a:p>
          <a:p>
            <a:pPr>
              <a:spcBef>
                <a:spcPts val="600"/>
              </a:spcBef>
              <a:buFont typeface="Arial" panose="020B0604020202020204" pitchFamily="34" charset="0"/>
              <a:buChar char="•"/>
            </a:pPr>
            <a:r>
              <a:rPr lang="en-US" dirty="0">
                <a:solidFill>
                  <a:srgbClr val="000000"/>
                </a:solidFill>
                <a:effectLst/>
              </a:rPr>
              <a:t>Provider's resources are pooled to serve multiple consumers</a:t>
            </a:r>
          </a:p>
          <a:p>
            <a:pPr>
              <a:spcBef>
                <a:spcPts val="600"/>
              </a:spcBef>
              <a:buFont typeface="Arial" panose="020B0604020202020204" pitchFamily="34" charset="0"/>
              <a:buChar char="•"/>
            </a:pPr>
            <a:r>
              <a:rPr lang="en-US" dirty="0">
                <a:solidFill>
                  <a:srgbClr val="000000"/>
                </a:solidFill>
                <a:effectLst/>
              </a:rPr>
              <a:t>Multi-tenant model with different physical and virtual resources</a:t>
            </a:r>
          </a:p>
          <a:p>
            <a:pPr>
              <a:spcBef>
                <a:spcPts val="600"/>
              </a:spcBef>
              <a:buFont typeface="Arial" panose="020B0604020202020204" pitchFamily="34" charset="0"/>
              <a:buChar char="•"/>
            </a:pPr>
            <a:r>
              <a:rPr lang="en-US" dirty="0">
                <a:solidFill>
                  <a:srgbClr val="000000"/>
                </a:solidFill>
                <a:effectLst/>
              </a:rPr>
              <a:t>Location independence (users generally don't know exact location of resources)</a:t>
            </a:r>
          </a:p>
          <a:p>
            <a:pPr>
              <a:spcBef>
                <a:spcPts val="600"/>
              </a:spcBef>
              <a:buFont typeface="Arial" panose="020B0604020202020204" pitchFamily="34" charset="0"/>
              <a:buChar char="•"/>
            </a:pPr>
            <a:r>
              <a:rPr lang="en-US" b="1" dirty="0">
                <a:solidFill>
                  <a:srgbClr val="000000"/>
                </a:solidFill>
                <a:effectLst/>
              </a:rPr>
              <a:t>Example:</a:t>
            </a:r>
            <a:r>
              <a:rPr lang="en-US" dirty="0">
                <a:solidFill>
                  <a:srgbClr val="000000"/>
                </a:solidFill>
                <a:effectLst/>
              </a:rPr>
              <a:t> Multiple companies sharing the same physical server infrastructure</a:t>
            </a:r>
          </a:p>
          <a:p>
            <a:pPr>
              <a:spcBef>
                <a:spcPts val="1200"/>
              </a:spcBef>
              <a:buNone/>
            </a:pPr>
            <a:r>
              <a:rPr lang="en-US" b="1" dirty="0">
                <a:solidFill>
                  <a:srgbClr val="000000"/>
                </a:solidFill>
                <a:effectLst/>
              </a:rPr>
              <a:t>4. Rapid Elasticity</a:t>
            </a:r>
          </a:p>
          <a:p>
            <a:pPr>
              <a:spcBef>
                <a:spcPts val="600"/>
              </a:spcBef>
              <a:buFont typeface="Arial" panose="020B0604020202020204" pitchFamily="34" charset="0"/>
              <a:buChar char="•"/>
            </a:pPr>
            <a:r>
              <a:rPr lang="en-US" dirty="0">
                <a:solidFill>
                  <a:srgbClr val="000000"/>
                </a:solidFill>
                <a:effectLst/>
              </a:rPr>
              <a:t>Capabilities can be elastically provisioned and released</a:t>
            </a:r>
          </a:p>
          <a:p>
            <a:pPr>
              <a:spcBef>
                <a:spcPts val="600"/>
              </a:spcBef>
              <a:buFont typeface="Arial" panose="020B0604020202020204" pitchFamily="34" charset="0"/>
              <a:buChar char="•"/>
            </a:pPr>
            <a:r>
              <a:rPr lang="en-US" dirty="0">
                <a:solidFill>
                  <a:srgbClr val="000000"/>
                </a:solidFill>
                <a:effectLst/>
              </a:rPr>
              <a:t>Scale up or down based on demand</a:t>
            </a:r>
          </a:p>
          <a:p>
            <a:pPr>
              <a:spcBef>
                <a:spcPts val="600"/>
              </a:spcBef>
              <a:buFont typeface="Arial" panose="020B0604020202020204" pitchFamily="34" charset="0"/>
              <a:buChar char="•"/>
            </a:pPr>
            <a:r>
              <a:rPr lang="en-US" dirty="0">
                <a:solidFill>
                  <a:srgbClr val="000000"/>
                </a:solidFill>
                <a:effectLst/>
              </a:rPr>
              <a:t>Appears unlimited to the consumer</a:t>
            </a:r>
          </a:p>
          <a:p>
            <a:pPr>
              <a:spcBef>
                <a:spcPts val="600"/>
              </a:spcBef>
              <a:buFont typeface="Arial" panose="020B0604020202020204" pitchFamily="34" charset="0"/>
              <a:buChar char="•"/>
            </a:pPr>
            <a:r>
              <a:rPr lang="en-US" b="1" dirty="0">
                <a:solidFill>
                  <a:srgbClr val="000000"/>
                </a:solidFill>
                <a:effectLst/>
              </a:rPr>
              <a:t>Example:</a:t>
            </a:r>
            <a:r>
              <a:rPr lang="en-US" dirty="0">
                <a:solidFill>
                  <a:srgbClr val="000000"/>
                </a:solidFill>
                <a:effectLst/>
              </a:rPr>
              <a:t> E-commerce site handling Dashain festival traffic spike</a:t>
            </a:r>
          </a:p>
          <a:p>
            <a:pPr marL="0" indent="0">
              <a:buNone/>
            </a:pPr>
            <a:endParaRPr lang="en-US" dirty="0"/>
          </a:p>
        </p:txBody>
      </p:sp>
    </p:spTree>
    <p:extLst>
      <p:ext uri="{BB962C8B-B14F-4D97-AF65-F5344CB8AC3E}">
        <p14:creationId xmlns:p14="http://schemas.microsoft.com/office/powerpoint/2010/main" val="3002974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BFC81-8B3A-4229-FB26-181FE0FDD237}"/>
              </a:ext>
            </a:extLst>
          </p:cNvPr>
          <p:cNvSpPr>
            <a:spLocks noGrp="1"/>
          </p:cNvSpPr>
          <p:nvPr>
            <p:ph type="title"/>
          </p:nvPr>
        </p:nvSpPr>
        <p:spPr/>
        <p:txBody>
          <a:bodyPr/>
          <a:lstStyle/>
          <a:p>
            <a:r>
              <a:rPr lang="en-US" dirty="0"/>
              <a:t>Five Essential Characteristics (Continued)</a:t>
            </a:r>
          </a:p>
        </p:txBody>
      </p:sp>
      <p:sp>
        <p:nvSpPr>
          <p:cNvPr id="3" name="Content Placeholder 2">
            <a:extLst>
              <a:ext uri="{FF2B5EF4-FFF2-40B4-BE49-F238E27FC236}">
                <a16:creationId xmlns:a16="http://schemas.microsoft.com/office/drawing/2014/main" id="{202CE91A-0FBB-2D82-0B7E-B65B9620846E}"/>
              </a:ext>
            </a:extLst>
          </p:cNvPr>
          <p:cNvSpPr>
            <a:spLocks noGrp="1"/>
          </p:cNvSpPr>
          <p:nvPr>
            <p:ph idx="1"/>
          </p:nvPr>
        </p:nvSpPr>
        <p:spPr/>
        <p:txBody>
          <a:bodyPr/>
          <a:lstStyle/>
          <a:p>
            <a:pPr>
              <a:spcBef>
                <a:spcPts val="900"/>
              </a:spcBef>
              <a:buNone/>
            </a:pPr>
            <a:r>
              <a:rPr lang="en-US" b="1" dirty="0">
                <a:solidFill>
                  <a:srgbClr val="000000"/>
                </a:solidFill>
                <a:effectLst/>
              </a:rPr>
              <a:t>5. Measured Service</a:t>
            </a:r>
          </a:p>
          <a:p>
            <a:pPr>
              <a:spcBef>
                <a:spcPts val="600"/>
              </a:spcBef>
              <a:buFont typeface="Arial" panose="020B0604020202020204" pitchFamily="34" charset="0"/>
              <a:buChar char="•"/>
            </a:pPr>
            <a:r>
              <a:rPr lang="en-US" dirty="0">
                <a:solidFill>
                  <a:srgbClr val="000000"/>
                </a:solidFill>
                <a:effectLst/>
              </a:rPr>
              <a:t>Resource usage is monitored, controlled, and reported</a:t>
            </a:r>
          </a:p>
          <a:p>
            <a:pPr>
              <a:spcBef>
                <a:spcPts val="600"/>
              </a:spcBef>
              <a:buFont typeface="Arial" panose="020B0604020202020204" pitchFamily="34" charset="0"/>
              <a:buChar char="•"/>
            </a:pPr>
            <a:r>
              <a:rPr lang="en-US" dirty="0">
                <a:solidFill>
                  <a:srgbClr val="000000"/>
                </a:solidFill>
                <a:effectLst/>
              </a:rPr>
              <a:t>Pay-per-use or subscription model</a:t>
            </a:r>
          </a:p>
          <a:p>
            <a:pPr>
              <a:spcBef>
                <a:spcPts val="600"/>
              </a:spcBef>
              <a:buFont typeface="Arial" panose="020B0604020202020204" pitchFamily="34" charset="0"/>
              <a:buChar char="•"/>
            </a:pPr>
            <a:r>
              <a:rPr lang="en-US" dirty="0">
                <a:solidFill>
                  <a:srgbClr val="000000"/>
                </a:solidFill>
                <a:effectLst/>
              </a:rPr>
              <a:t>Transparency for both provider and consumer</a:t>
            </a:r>
          </a:p>
          <a:p>
            <a:pPr>
              <a:spcBef>
                <a:spcPts val="600"/>
              </a:spcBef>
              <a:buFont typeface="Arial" panose="020B0604020202020204" pitchFamily="34" charset="0"/>
              <a:buChar char="•"/>
            </a:pPr>
            <a:r>
              <a:rPr lang="en-US" b="1" dirty="0">
                <a:solidFill>
                  <a:srgbClr val="000000"/>
                </a:solidFill>
                <a:effectLst/>
              </a:rPr>
              <a:t>Example:</a:t>
            </a:r>
            <a:r>
              <a:rPr lang="en-US" dirty="0">
                <a:solidFill>
                  <a:srgbClr val="000000"/>
                </a:solidFill>
                <a:effectLst/>
              </a:rPr>
              <a:t> AWS billing based on compute hours, storage GB, data transfer</a:t>
            </a:r>
          </a:p>
          <a:p>
            <a:pPr marL="0" indent="0">
              <a:buNone/>
            </a:pPr>
            <a:endParaRPr lang="en-US" dirty="0"/>
          </a:p>
        </p:txBody>
      </p:sp>
    </p:spTree>
    <p:extLst>
      <p:ext uri="{BB962C8B-B14F-4D97-AF65-F5344CB8AC3E}">
        <p14:creationId xmlns:p14="http://schemas.microsoft.com/office/powerpoint/2010/main" val="2519113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10475-1750-7E1D-DF2E-A323D210558B}"/>
              </a:ext>
            </a:extLst>
          </p:cNvPr>
          <p:cNvSpPr>
            <a:spLocks noGrp="1"/>
          </p:cNvSpPr>
          <p:nvPr>
            <p:ph type="title"/>
          </p:nvPr>
        </p:nvSpPr>
        <p:spPr/>
        <p:txBody>
          <a:bodyPr/>
          <a:lstStyle/>
          <a:p>
            <a:r>
              <a:rPr lang="en-US" b="1" dirty="0">
                <a:solidFill>
                  <a:srgbClr val="000000"/>
                </a:solidFill>
                <a:effectLst/>
              </a:rPr>
              <a:t>Additional Cloud Characteristics</a:t>
            </a:r>
            <a:br>
              <a:rPr lang="en-US" b="1" dirty="0">
                <a:solidFill>
                  <a:srgbClr val="000000"/>
                </a:solidFill>
                <a:effectLst/>
              </a:rPr>
            </a:br>
            <a:endParaRPr lang="en-US" dirty="0"/>
          </a:p>
        </p:txBody>
      </p:sp>
      <p:sp>
        <p:nvSpPr>
          <p:cNvPr id="3" name="Content Placeholder 2">
            <a:extLst>
              <a:ext uri="{FF2B5EF4-FFF2-40B4-BE49-F238E27FC236}">
                <a16:creationId xmlns:a16="http://schemas.microsoft.com/office/drawing/2014/main" id="{6D0A6AD8-B520-F290-95DB-6096CD0CB052}"/>
              </a:ext>
            </a:extLst>
          </p:cNvPr>
          <p:cNvSpPr>
            <a:spLocks noGrp="1"/>
          </p:cNvSpPr>
          <p:nvPr>
            <p:ph idx="1"/>
          </p:nvPr>
        </p:nvSpPr>
        <p:spPr/>
        <p:txBody>
          <a:bodyPr/>
          <a:lstStyle/>
          <a:p>
            <a:pPr>
              <a:spcBef>
                <a:spcPts val="900"/>
              </a:spcBef>
              <a:buNone/>
            </a:pPr>
            <a:r>
              <a:rPr lang="en-US" b="1" dirty="0">
                <a:solidFill>
                  <a:srgbClr val="000000"/>
                </a:solidFill>
                <a:effectLst/>
              </a:rPr>
              <a:t>Other Important Features:</a:t>
            </a:r>
            <a:endParaRPr lang="en-US" dirty="0">
              <a:solidFill>
                <a:srgbClr val="000000"/>
              </a:solidFill>
              <a:effectLst/>
            </a:endParaRPr>
          </a:p>
          <a:p>
            <a:pPr>
              <a:spcBef>
                <a:spcPts val="600"/>
              </a:spcBef>
              <a:buFont typeface="Arial" panose="020B0604020202020204" pitchFamily="34" charset="0"/>
              <a:buChar char="•"/>
            </a:pPr>
            <a:r>
              <a:rPr lang="en-US" b="1" dirty="0">
                <a:solidFill>
                  <a:srgbClr val="000000"/>
                </a:solidFill>
                <a:effectLst/>
              </a:rPr>
              <a:t>Reliability:</a:t>
            </a:r>
            <a:r>
              <a:rPr lang="en-US" dirty="0">
                <a:solidFill>
                  <a:srgbClr val="000000"/>
                </a:solidFill>
                <a:effectLst/>
              </a:rPr>
              <a:t> High uptime (99.9% or higher SLA)</a:t>
            </a:r>
          </a:p>
          <a:p>
            <a:pPr>
              <a:spcBef>
                <a:spcPts val="600"/>
              </a:spcBef>
              <a:buFont typeface="Arial" panose="020B0604020202020204" pitchFamily="34" charset="0"/>
              <a:buChar char="•"/>
            </a:pPr>
            <a:r>
              <a:rPr lang="en-US" b="1" dirty="0">
                <a:solidFill>
                  <a:srgbClr val="000000"/>
                </a:solidFill>
                <a:effectLst/>
              </a:rPr>
              <a:t>Scalability:</a:t>
            </a:r>
            <a:r>
              <a:rPr lang="en-US" dirty="0">
                <a:solidFill>
                  <a:srgbClr val="000000"/>
                </a:solidFill>
                <a:effectLst/>
              </a:rPr>
              <a:t> Horizontal and vertical scaling options</a:t>
            </a:r>
          </a:p>
          <a:p>
            <a:pPr>
              <a:spcBef>
                <a:spcPts val="600"/>
              </a:spcBef>
              <a:buFont typeface="Arial" panose="020B0604020202020204" pitchFamily="34" charset="0"/>
              <a:buChar char="•"/>
            </a:pPr>
            <a:r>
              <a:rPr lang="en-US" b="1" dirty="0">
                <a:solidFill>
                  <a:srgbClr val="000000"/>
                </a:solidFill>
                <a:effectLst/>
              </a:rPr>
              <a:t>Security:</a:t>
            </a:r>
            <a:r>
              <a:rPr lang="en-US" dirty="0">
                <a:solidFill>
                  <a:srgbClr val="000000"/>
                </a:solidFill>
                <a:effectLst/>
              </a:rPr>
              <a:t> Advanced security measures and compliance certifications</a:t>
            </a:r>
          </a:p>
          <a:p>
            <a:pPr>
              <a:spcBef>
                <a:spcPts val="600"/>
              </a:spcBef>
              <a:buFont typeface="Arial" panose="020B0604020202020204" pitchFamily="34" charset="0"/>
              <a:buChar char="•"/>
            </a:pPr>
            <a:r>
              <a:rPr lang="en-US" b="1" dirty="0">
                <a:solidFill>
                  <a:srgbClr val="000000"/>
                </a:solidFill>
                <a:effectLst/>
              </a:rPr>
              <a:t>Cost-Effective:</a:t>
            </a:r>
            <a:r>
              <a:rPr lang="en-US" dirty="0">
                <a:solidFill>
                  <a:srgbClr val="000000"/>
                </a:solidFill>
                <a:effectLst/>
              </a:rPr>
              <a:t> Reduced capital expenditure (</a:t>
            </a:r>
            <a:r>
              <a:rPr lang="en-US" dirty="0" err="1">
                <a:solidFill>
                  <a:srgbClr val="000000"/>
                </a:solidFill>
                <a:effectLst/>
              </a:rPr>
              <a:t>CapEx</a:t>
            </a:r>
            <a:r>
              <a:rPr lang="en-US" dirty="0">
                <a:solidFill>
                  <a:srgbClr val="000000"/>
                </a:solidFill>
                <a:effectLst/>
              </a:rPr>
              <a:t>)</a:t>
            </a:r>
          </a:p>
          <a:p>
            <a:pPr>
              <a:spcBef>
                <a:spcPts val="600"/>
              </a:spcBef>
              <a:buFont typeface="Arial" panose="020B0604020202020204" pitchFamily="34" charset="0"/>
              <a:buChar char="•"/>
            </a:pPr>
            <a:r>
              <a:rPr lang="en-US" b="1" dirty="0">
                <a:solidFill>
                  <a:srgbClr val="000000"/>
                </a:solidFill>
                <a:effectLst/>
              </a:rPr>
              <a:t>Maintenance:</a:t>
            </a:r>
            <a:r>
              <a:rPr lang="en-US" dirty="0">
                <a:solidFill>
                  <a:srgbClr val="000000"/>
                </a:solidFill>
                <a:effectLst/>
              </a:rPr>
              <a:t> Provider handles hardware/software updates</a:t>
            </a:r>
          </a:p>
          <a:p>
            <a:pPr>
              <a:spcBef>
                <a:spcPts val="600"/>
              </a:spcBef>
              <a:buFont typeface="Arial" panose="020B0604020202020204" pitchFamily="34" charset="0"/>
              <a:buChar char="•"/>
            </a:pPr>
            <a:r>
              <a:rPr lang="en-US" b="1" dirty="0">
                <a:solidFill>
                  <a:srgbClr val="000000"/>
                </a:solidFill>
                <a:effectLst/>
              </a:rPr>
              <a:t>Disaster Recovery:</a:t>
            </a:r>
            <a:r>
              <a:rPr lang="en-US" dirty="0">
                <a:solidFill>
                  <a:srgbClr val="000000"/>
                </a:solidFill>
                <a:effectLst/>
              </a:rPr>
              <a:t> Built-in backup and recovery options</a:t>
            </a:r>
          </a:p>
          <a:p>
            <a:pPr marL="0" indent="0">
              <a:buNone/>
            </a:pPr>
            <a:endParaRPr lang="en-US" dirty="0"/>
          </a:p>
        </p:txBody>
      </p:sp>
    </p:spTree>
    <p:extLst>
      <p:ext uri="{BB962C8B-B14F-4D97-AF65-F5344CB8AC3E}">
        <p14:creationId xmlns:p14="http://schemas.microsoft.com/office/powerpoint/2010/main" val="3563987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45674-E3C6-A294-65FE-6E10E1E327CD}"/>
              </a:ext>
            </a:extLst>
          </p:cNvPr>
          <p:cNvSpPr>
            <a:spLocks noGrp="1"/>
          </p:cNvSpPr>
          <p:nvPr>
            <p:ph type="title"/>
          </p:nvPr>
        </p:nvSpPr>
        <p:spPr/>
        <p:txBody>
          <a:bodyPr/>
          <a:lstStyle/>
          <a:p>
            <a:r>
              <a:rPr lang="en-US" dirty="0"/>
              <a:t>Cloud vs Traditional IT Infrastructure</a:t>
            </a:r>
          </a:p>
        </p:txBody>
      </p:sp>
      <p:sp>
        <p:nvSpPr>
          <p:cNvPr id="3" name="Content Placeholder 2">
            <a:extLst>
              <a:ext uri="{FF2B5EF4-FFF2-40B4-BE49-F238E27FC236}">
                <a16:creationId xmlns:a16="http://schemas.microsoft.com/office/drawing/2014/main" id="{90D99406-4450-53CD-F16F-59BA80A92C07}"/>
              </a:ext>
            </a:extLst>
          </p:cNvPr>
          <p:cNvSpPr>
            <a:spLocks noGrp="1"/>
          </p:cNvSpPr>
          <p:nvPr>
            <p:ph idx="1"/>
          </p:nvPr>
        </p:nvSpPr>
        <p:spPr/>
        <p:txBody>
          <a:bodyPr>
            <a:normAutofit/>
          </a:bodyPr>
          <a:lstStyle/>
          <a:p>
            <a:pPr>
              <a:spcBef>
                <a:spcPts val="2700"/>
              </a:spcBef>
              <a:buNone/>
            </a:pPr>
            <a:r>
              <a:rPr lang="en-US" b="1" dirty="0">
                <a:solidFill>
                  <a:srgbClr val="000000"/>
                </a:solidFill>
                <a:effectLst/>
              </a:rPr>
              <a:t>Traditional IT Infrastructure</a:t>
            </a:r>
          </a:p>
          <a:p>
            <a:pPr>
              <a:spcBef>
                <a:spcPts val="900"/>
              </a:spcBef>
              <a:buNone/>
            </a:pPr>
            <a:r>
              <a:rPr lang="en-US" b="1" dirty="0">
                <a:solidFill>
                  <a:srgbClr val="000000"/>
                </a:solidFill>
                <a:effectLst/>
              </a:rPr>
              <a:t>Characteristics:</a:t>
            </a:r>
            <a:endParaRPr lang="en-US" dirty="0">
              <a:solidFill>
                <a:srgbClr val="000000"/>
              </a:solidFill>
              <a:effectLst/>
            </a:endParaRPr>
          </a:p>
          <a:p>
            <a:pPr>
              <a:spcBef>
                <a:spcPts val="600"/>
              </a:spcBef>
              <a:buFont typeface="Arial" panose="020B0604020202020204" pitchFamily="34" charset="0"/>
              <a:buChar char="•"/>
            </a:pPr>
            <a:r>
              <a:rPr lang="en-US" b="1" dirty="0">
                <a:solidFill>
                  <a:srgbClr val="000000"/>
                </a:solidFill>
                <a:effectLst/>
              </a:rPr>
              <a:t>On-Premises:</a:t>
            </a:r>
            <a:r>
              <a:rPr lang="en-US" dirty="0">
                <a:solidFill>
                  <a:srgbClr val="000000"/>
                </a:solidFill>
                <a:effectLst/>
              </a:rPr>
              <a:t> Physical servers located in company's data center</a:t>
            </a:r>
          </a:p>
          <a:p>
            <a:pPr>
              <a:spcBef>
                <a:spcPts val="600"/>
              </a:spcBef>
              <a:buFont typeface="Arial" panose="020B0604020202020204" pitchFamily="34" charset="0"/>
              <a:buChar char="•"/>
            </a:pPr>
            <a:r>
              <a:rPr lang="en-US" b="1" dirty="0">
                <a:solidFill>
                  <a:srgbClr val="000000"/>
                </a:solidFill>
                <a:effectLst/>
              </a:rPr>
              <a:t>Capital Intensive:</a:t>
            </a:r>
            <a:r>
              <a:rPr lang="en-US" dirty="0">
                <a:solidFill>
                  <a:srgbClr val="000000"/>
                </a:solidFill>
                <a:effectLst/>
              </a:rPr>
              <a:t> Large upfront investment in hardware</a:t>
            </a:r>
          </a:p>
          <a:p>
            <a:pPr>
              <a:spcBef>
                <a:spcPts val="600"/>
              </a:spcBef>
              <a:buFont typeface="Arial" panose="020B0604020202020204" pitchFamily="34" charset="0"/>
              <a:buChar char="•"/>
            </a:pPr>
            <a:r>
              <a:rPr lang="en-US" b="1" dirty="0">
                <a:solidFill>
                  <a:srgbClr val="000000"/>
                </a:solidFill>
                <a:effectLst/>
              </a:rPr>
              <a:t>Fixed Capacity:</a:t>
            </a:r>
            <a:r>
              <a:rPr lang="en-US" dirty="0">
                <a:solidFill>
                  <a:srgbClr val="000000"/>
                </a:solidFill>
                <a:effectLst/>
              </a:rPr>
              <a:t> Limited by physical infrastructure</a:t>
            </a:r>
          </a:p>
          <a:p>
            <a:pPr>
              <a:spcBef>
                <a:spcPts val="600"/>
              </a:spcBef>
              <a:buFont typeface="Arial" panose="020B0604020202020204" pitchFamily="34" charset="0"/>
              <a:buChar char="•"/>
            </a:pPr>
            <a:r>
              <a:rPr lang="en-US" b="1" dirty="0">
                <a:solidFill>
                  <a:srgbClr val="000000"/>
                </a:solidFill>
                <a:effectLst/>
              </a:rPr>
              <a:t>Maintenance:</a:t>
            </a:r>
            <a:r>
              <a:rPr lang="en-US" dirty="0">
                <a:solidFill>
                  <a:srgbClr val="000000"/>
                </a:solidFill>
                <a:effectLst/>
              </a:rPr>
              <a:t> In-house IT team manages everything</a:t>
            </a:r>
          </a:p>
          <a:p>
            <a:pPr>
              <a:spcBef>
                <a:spcPts val="600"/>
              </a:spcBef>
              <a:buFont typeface="Arial" panose="020B0604020202020204" pitchFamily="34" charset="0"/>
              <a:buChar char="•"/>
            </a:pPr>
            <a:r>
              <a:rPr lang="en-US" b="1" dirty="0">
                <a:solidFill>
                  <a:srgbClr val="000000"/>
                </a:solidFill>
                <a:effectLst/>
              </a:rPr>
              <a:t>Scaling:</a:t>
            </a:r>
            <a:r>
              <a:rPr lang="en-US" dirty="0">
                <a:solidFill>
                  <a:srgbClr val="000000"/>
                </a:solidFill>
                <a:effectLst/>
              </a:rPr>
              <a:t> Time-consuming and expensive</a:t>
            </a:r>
          </a:p>
          <a:p>
            <a:pPr>
              <a:spcBef>
                <a:spcPts val="1200"/>
              </a:spcBef>
              <a:buNone/>
            </a:pPr>
            <a:r>
              <a:rPr lang="en-US" b="1" dirty="0">
                <a:solidFill>
                  <a:srgbClr val="000000"/>
                </a:solidFill>
                <a:effectLst/>
              </a:rPr>
              <a:t>Example:</a:t>
            </a:r>
            <a:r>
              <a:rPr lang="en-US" dirty="0">
                <a:solidFill>
                  <a:srgbClr val="000000"/>
                </a:solidFill>
                <a:effectLst/>
              </a:rPr>
              <a:t> A Nepali bank maintaining its own server room with physical servers, networking equipment, and dedicated IT staff.</a:t>
            </a:r>
          </a:p>
          <a:p>
            <a:pPr marL="0" indent="0">
              <a:buNone/>
            </a:pPr>
            <a:endParaRPr lang="en-US" dirty="0"/>
          </a:p>
        </p:txBody>
      </p:sp>
    </p:spTree>
    <p:extLst>
      <p:ext uri="{BB962C8B-B14F-4D97-AF65-F5344CB8AC3E}">
        <p14:creationId xmlns:p14="http://schemas.microsoft.com/office/powerpoint/2010/main" val="671184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06324-88BF-7D6B-0BC9-89DC89C2F400}"/>
              </a:ext>
            </a:extLst>
          </p:cNvPr>
          <p:cNvSpPr>
            <a:spLocks noGrp="1"/>
          </p:cNvSpPr>
          <p:nvPr>
            <p:ph type="title"/>
          </p:nvPr>
        </p:nvSpPr>
        <p:spPr/>
        <p:txBody>
          <a:bodyPr/>
          <a:lstStyle/>
          <a:p>
            <a:r>
              <a:rPr lang="en-US" dirty="0"/>
              <a:t>Cloud Infrastructure</a:t>
            </a:r>
          </a:p>
        </p:txBody>
      </p:sp>
      <p:sp>
        <p:nvSpPr>
          <p:cNvPr id="3" name="Content Placeholder 2">
            <a:extLst>
              <a:ext uri="{FF2B5EF4-FFF2-40B4-BE49-F238E27FC236}">
                <a16:creationId xmlns:a16="http://schemas.microsoft.com/office/drawing/2014/main" id="{B292690F-BF17-AB8B-4A0D-F6C53C862A39}"/>
              </a:ext>
            </a:extLst>
          </p:cNvPr>
          <p:cNvSpPr>
            <a:spLocks noGrp="1"/>
          </p:cNvSpPr>
          <p:nvPr>
            <p:ph idx="1"/>
          </p:nvPr>
        </p:nvSpPr>
        <p:spPr/>
        <p:txBody>
          <a:bodyPr>
            <a:normAutofit/>
          </a:bodyPr>
          <a:lstStyle/>
          <a:p>
            <a:pPr>
              <a:spcBef>
                <a:spcPts val="900"/>
              </a:spcBef>
              <a:buNone/>
            </a:pPr>
            <a:r>
              <a:rPr lang="en-US" b="1" dirty="0">
                <a:solidFill>
                  <a:srgbClr val="000000"/>
                </a:solidFill>
                <a:effectLst/>
              </a:rPr>
              <a:t>Characteristics:</a:t>
            </a:r>
            <a:endParaRPr lang="en-US" dirty="0">
              <a:solidFill>
                <a:srgbClr val="000000"/>
              </a:solidFill>
              <a:effectLst/>
            </a:endParaRPr>
          </a:p>
          <a:p>
            <a:pPr>
              <a:spcBef>
                <a:spcPts val="600"/>
              </a:spcBef>
              <a:buFont typeface="Arial" panose="020B0604020202020204" pitchFamily="34" charset="0"/>
              <a:buChar char="•"/>
            </a:pPr>
            <a:r>
              <a:rPr lang="en-US" b="1" dirty="0">
                <a:solidFill>
                  <a:srgbClr val="000000"/>
                </a:solidFill>
                <a:effectLst/>
              </a:rPr>
              <a:t>Off-Premises:</a:t>
            </a:r>
            <a:r>
              <a:rPr lang="en-US" dirty="0">
                <a:solidFill>
                  <a:srgbClr val="000000"/>
                </a:solidFill>
                <a:effectLst/>
              </a:rPr>
              <a:t> Hosted in provider's data centers</a:t>
            </a:r>
          </a:p>
          <a:p>
            <a:pPr>
              <a:spcBef>
                <a:spcPts val="600"/>
              </a:spcBef>
              <a:buFont typeface="Arial" panose="020B0604020202020204" pitchFamily="34" charset="0"/>
              <a:buChar char="•"/>
            </a:pPr>
            <a:r>
              <a:rPr lang="en-US" b="1" dirty="0">
                <a:solidFill>
                  <a:srgbClr val="000000"/>
                </a:solidFill>
                <a:effectLst/>
              </a:rPr>
              <a:t>Operational Expense:</a:t>
            </a:r>
            <a:r>
              <a:rPr lang="en-US" dirty="0">
                <a:solidFill>
                  <a:srgbClr val="000000"/>
                </a:solidFill>
                <a:effectLst/>
              </a:rPr>
              <a:t> Pay-as-you-go model</a:t>
            </a:r>
          </a:p>
          <a:p>
            <a:pPr>
              <a:spcBef>
                <a:spcPts val="600"/>
              </a:spcBef>
              <a:buFont typeface="Arial" panose="020B0604020202020204" pitchFamily="34" charset="0"/>
              <a:buChar char="•"/>
            </a:pPr>
            <a:r>
              <a:rPr lang="en-US" b="1" dirty="0">
                <a:solidFill>
                  <a:srgbClr val="000000"/>
                </a:solidFill>
                <a:effectLst/>
              </a:rPr>
              <a:t>Elastic Capacity:</a:t>
            </a:r>
            <a:r>
              <a:rPr lang="en-US" dirty="0">
                <a:solidFill>
                  <a:srgbClr val="000000"/>
                </a:solidFill>
                <a:effectLst/>
              </a:rPr>
              <a:t> Scale up/down as needed</a:t>
            </a:r>
          </a:p>
          <a:p>
            <a:pPr>
              <a:spcBef>
                <a:spcPts val="600"/>
              </a:spcBef>
              <a:buFont typeface="Arial" panose="020B0604020202020204" pitchFamily="34" charset="0"/>
              <a:buChar char="•"/>
            </a:pPr>
            <a:r>
              <a:rPr lang="en-US" b="1" dirty="0">
                <a:solidFill>
                  <a:srgbClr val="000000"/>
                </a:solidFill>
                <a:effectLst/>
              </a:rPr>
              <a:t>Managed Services:</a:t>
            </a:r>
            <a:r>
              <a:rPr lang="en-US" dirty="0">
                <a:solidFill>
                  <a:srgbClr val="000000"/>
                </a:solidFill>
                <a:effectLst/>
              </a:rPr>
              <a:t> Provider handles infrastructure</a:t>
            </a:r>
          </a:p>
          <a:p>
            <a:pPr>
              <a:spcBef>
                <a:spcPts val="600"/>
              </a:spcBef>
              <a:buFont typeface="Arial" panose="020B0604020202020204" pitchFamily="34" charset="0"/>
              <a:buChar char="•"/>
            </a:pPr>
            <a:r>
              <a:rPr lang="en-US" b="1" dirty="0">
                <a:solidFill>
                  <a:srgbClr val="000000"/>
                </a:solidFill>
                <a:effectLst/>
              </a:rPr>
              <a:t>Scaling:</a:t>
            </a:r>
            <a:r>
              <a:rPr lang="en-US" dirty="0">
                <a:solidFill>
                  <a:srgbClr val="000000"/>
                </a:solidFill>
                <a:effectLst/>
              </a:rPr>
              <a:t> Instant and cost-effective</a:t>
            </a:r>
          </a:p>
          <a:p>
            <a:pPr>
              <a:spcBef>
                <a:spcPts val="1200"/>
              </a:spcBef>
              <a:buNone/>
            </a:pPr>
            <a:r>
              <a:rPr lang="en-US" b="1" dirty="0">
                <a:solidFill>
                  <a:srgbClr val="000000"/>
                </a:solidFill>
                <a:effectLst/>
              </a:rPr>
              <a:t>Example:</a:t>
            </a:r>
            <a:r>
              <a:rPr lang="en-US" dirty="0">
                <a:solidFill>
                  <a:srgbClr val="000000"/>
                </a:solidFill>
                <a:effectLst/>
              </a:rPr>
              <a:t> A Nepali startup using AWS to host their mobile application without owning any physical servers.</a:t>
            </a:r>
          </a:p>
          <a:p>
            <a:pPr marL="0" indent="0">
              <a:buNone/>
            </a:pPr>
            <a:endParaRPr lang="en-US" dirty="0"/>
          </a:p>
        </p:txBody>
      </p:sp>
    </p:spTree>
    <p:extLst>
      <p:ext uri="{BB962C8B-B14F-4D97-AF65-F5344CB8AC3E}">
        <p14:creationId xmlns:p14="http://schemas.microsoft.com/office/powerpoint/2010/main" val="3264532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0EFF2-B27B-7E45-05FD-BCE4C01F33DA}"/>
              </a:ext>
            </a:extLst>
          </p:cNvPr>
          <p:cNvSpPr>
            <a:spLocks noGrp="1"/>
          </p:cNvSpPr>
          <p:nvPr>
            <p:ph type="title"/>
          </p:nvPr>
        </p:nvSpPr>
        <p:spPr/>
        <p:txBody>
          <a:bodyPr/>
          <a:lstStyle/>
          <a:p>
            <a:r>
              <a:rPr lang="en-US" dirty="0"/>
              <a:t>Comparison Table</a:t>
            </a:r>
          </a:p>
        </p:txBody>
      </p:sp>
      <p:graphicFrame>
        <p:nvGraphicFramePr>
          <p:cNvPr id="7" name="Content Placeholder 6">
            <a:extLst>
              <a:ext uri="{FF2B5EF4-FFF2-40B4-BE49-F238E27FC236}">
                <a16:creationId xmlns:a16="http://schemas.microsoft.com/office/drawing/2014/main" id="{C37047AF-D2E7-36A7-0EF1-6571C23C00C5}"/>
              </a:ext>
            </a:extLst>
          </p:cNvPr>
          <p:cNvGraphicFramePr>
            <a:graphicFrameLocks noGrp="1"/>
          </p:cNvGraphicFramePr>
          <p:nvPr>
            <p:ph idx="1"/>
            <p:extLst>
              <p:ext uri="{D42A27DB-BD31-4B8C-83A1-F6EECF244321}">
                <p14:modId xmlns:p14="http://schemas.microsoft.com/office/powerpoint/2010/main" val="1147438241"/>
              </p:ext>
            </p:extLst>
          </p:nvPr>
        </p:nvGraphicFramePr>
        <p:xfrm>
          <a:off x="838200" y="2355374"/>
          <a:ext cx="9132697" cy="3291840"/>
        </p:xfrm>
        <a:graphic>
          <a:graphicData uri="http://schemas.openxmlformats.org/drawingml/2006/table">
            <a:tbl>
              <a:tblPr>
                <a:tableStyleId>{284E427A-3D55-4303-BF80-6455036E1DE7}</a:tableStyleId>
              </a:tblPr>
              <a:tblGrid>
                <a:gridCol w="2122297">
                  <a:extLst>
                    <a:ext uri="{9D8B030D-6E8A-4147-A177-3AD203B41FA5}">
                      <a16:colId xmlns:a16="http://schemas.microsoft.com/office/drawing/2014/main" val="2882161570"/>
                    </a:ext>
                  </a:extLst>
                </a:gridCol>
                <a:gridCol w="3505200">
                  <a:extLst>
                    <a:ext uri="{9D8B030D-6E8A-4147-A177-3AD203B41FA5}">
                      <a16:colId xmlns:a16="http://schemas.microsoft.com/office/drawing/2014/main" val="3175152015"/>
                    </a:ext>
                  </a:extLst>
                </a:gridCol>
                <a:gridCol w="3505200">
                  <a:extLst>
                    <a:ext uri="{9D8B030D-6E8A-4147-A177-3AD203B41FA5}">
                      <a16:colId xmlns:a16="http://schemas.microsoft.com/office/drawing/2014/main" val="1932247638"/>
                    </a:ext>
                  </a:extLst>
                </a:gridCol>
              </a:tblGrid>
              <a:tr h="0">
                <a:tc>
                  <a:txBody>
                    <a:bodyPr/>
                    <a:lstStyle/>
                    <a:p>
                      <a:pPr>
                        <a:buNone/>
                      </a:pPr>
                      <a:r>
                        <a:rPr lang="en-US" b="1">
                          <a:solidFill>
                            <a:srgbClr val="000000"/>
                          </a:solidFill>
                          <a:effectLst/>
                        </a:rPr>
                        <a:t>Aspect</a:t>
                      </a:r>
                      <a:endParaRPr lang="en-US">
                        <a:solidFill>
                          <a:srgbClr val="000000"/>
                        </a:solidFill>
                        <a:effectLst/>
                      </a:endParaRPr>
                    </a:p>
                  </a:txBody>
                  <a:tcPr anchor="ctr"/>
                </a:tc>
                <a:tc>
                  <a:txBody>
                    <a:bodyPr/>
                    <a:lstStyle/>
                    <a:p>
                      <a:pPr>
                        <a:buNone/>
                      </a:pPr>
                      <a:r>
                        <a:rPr lang="en-US" b="1">
                          <a:solidFill>
                            <a:srgbClr val="000000"/>
                          </a:solidFill>
                          <a:effectLst/>
                        </a:rPr>
                        <a:t>Traditional IT</a:t>
                      </a:r>
                      <a:endParaRPr lang="en-US">
                        <a:solidFill>
                          <a:srgbClr val="000000"/>
                        </a:solidFill>
                        <a:effectLst/>
                      </a:endParaRPr>
                    </a:p>
                  </a:txBody>
                  <a:tcPr anchor="ctr"/>
                </a:tc>
                <a:tc>
                  <a:txBody>
                    <a:bodyPr/>
                    <a:lstStyle/>
                    <a:p>
                      <a:pPr>
                        <a:buNone/>
                      </a:pPr>
                      <a:r>
                        <a:rPr lang="en-US" b="1">
                          <a:solidFill>
                            <a:srgbClr val="000000"/>
                          </a:solidFill>
                          <a:effectLst/>
                        </a:rPr>
                        <a:t>Cloud Computing</a:t>
                      </a:r>
                      <a:endParaRPr lang="en-US">
                        <a:solidFill>
                          <a:srgbClr val="000000"/>
                        </a:solidFill>
                        <a:effectLst/>
                      </a:endParaRPr>
                    </a:p>
                  </a:txBody>
                  <a:tcPr anchor="ctr"/>
                </a:tc>
                <a:extLst>
                  <a:ext uri="{0D108BD9-81ED-4DB2-BD59-A6C34878D82A}">
                    <a16:rowId xmlns:a16="http://schemas.microsoft.com/office/drawing/2014/main" val="4038711355"/>
                  </a:ext>
                </a:extLst>
              </a:tr>
              <a:tr h="0">
                <a:tc>
                  <a:txBody>
                    <a:bodyPr/>
                    <a:lstStyle/>
                    <a:p>
                      <a:pPr>
                        <a:buNone/>
                      </a:pPr>
                      <a:r>
                        <a:rPr lang="en-US" b="1">
                          <a:solidFill>
                            <a:srgbClr val="000000"/>
                          </a:solidFill>
                          <a:effectLst/>
                        </a:rPr>
                        <a:t>Initial Cost</a:t>
                      </a:r>
                      <a:endParaRPr lang="en-US">
                        <a:solidFill>
                          <a:srgbClr val="000000"/>
                        </a:solidFill>
                        <a:effectLst/>
                      </a:endParaRPr>
                    </a:p>
                  </a:txBody>
                  <a:tcPr anchor="ctr"/>
                </a:tc>
                <a:tc>
                  <a:txBody>
                    <a:bodyPr/>
                    <a:lstStyle/>
                    <a:p>
                      <a:pPr>
                        <a:buNone/>
                      </a:pPr>
                      <a:r>
                        <a:rPr lang="en-US">
                          <a:solidFill>
                            <a:srgbClr val="000000"/>
                          </a:solidFill>
                          <a:effectLst/>
                        </a:rPr>
                        <a:t>High (CapEx)</a:t>
                      </a:r>
                    </a:p>
                  </a:txBody>
                  <a:tcPr anchor="ctr"/>
                </a:tc>
                <a:tc>
                  <a:txBody>
                    <a:bodyPr/>
                    <a:lstStyle/>
                    <a:p>
                      <a:pPr>
                        <a:buNone/>
                      </a:pPr>
                      <a:r>
                        <a:rPr lang="en-US">
                          <a:solidFill>
                            <a:srgbClr val="000000"/>
                          </a:solidFill>
                          <a:effectLst/>
                        </a:rPr>
                        <a:t>Low (OpEx)</a:t>
                      </a:r>
                    </a:p>
                  </a:txBody>
                  <a:tcPr anchor="ctr"/>
                </a:tc>
                <a:extLst>
                  <a:ext uri="{0D108BD9-81ED-4DB2-BD59-A6C34878D82A}">
                    <a16:rowId xmlns:a16="http://schemas.microsoft.com/office/drawing/2014/main" val="288503394"/>
                  </a:ext>
                </a:extLst>
              </a:tr>
              <a:tr h="0">
                <a:tc>
                  <a:txBody>
                    <a:bodyPr/>
                    <a:lstStyle/>
                    <a:p>
                      <a:pPr>
                        <a:buNone/>
                      </a:pPr>
                      <a:r>
                        <a:rPr lang="en-US" b="1">
                          <a:solidFill>
                            <a:srgbClr val="000000"/>
                          </a:solidFill>
                          <a:effectLst/>
                        </a:rPr>
                        <a:t>Scalability</a:t>
                      </a:r>
                      <a:endParaRPr lang="en-US">
                        <a:solidFill>
                          <a:srgbClr val="000000"/>
                        </a:solidFill>
                        <a:effectLst/>
                      </a:endParaRPr>
                    </a:p>
                  </a:txBody>
                  <a:tcPr anchor="ctr"/>
                </a:tc>
                <a:tc>
                  <a:txBody>
                    <a:bodyPr/>
                    <a:lstStyle/>
                    <a:p>
                      <a:pPr>
                        <a:buNone/>
                      </a:pPr>
                      <a:r>
                        <a:rPr lang="en-US">
                          <a:solidFill>
                            <a:srgbClr val="000000"/>
                          </a:solidFill>
                          <a:effectLst/>
                        </a:rPr>
                        <a:t>Limited &amp; Slow</a:t>
                      </a:r>
                    </a:p>
                  </a:txBody>
                  <a:tcPr anchor="ctr"/>
                </a:tc>
                <a:tc>
                  <a:txBody>
                    <a:bodyPr/>
                    <a:lstStyle/>
                    <a:p>
                      <a:pPr>
                        <a:buNone/>
                      </a:pPr>
                      <a:r>
                        <a:rPr lang="en-US">
                          <a:solidFill>
                            <a:srgbClr val="000000"/>
                          </a:solidFill>
                          <a:effectLst/>
                        </a:rPr>
                        <a:t>Unlimited &amp; Fast</a:t>
                      </a:r>
                    </a:p>
                  </a:txBody>
                  <a:tcPr anchor="ctr"/>
                </a:tc>
                <a:extLst>
                  <a:ext uri="{0D108BD9-81ED-4DB2-BD59-A6C34878D82A}">
                    <a16:rowId xmlns:a16="http://schemas.microsoft.com/office/drawing/2014/main" val="2955038463"/>
                  </a:ext>
                </a:extLst>
              </a:tr>
              <a:tr h="0">
                <a:tc>
                  <a:txBody>
                    <a:bodyPr/>
                    <a:lstStyle/>
                    <a:p>
                      <a:pPr>
                        <a:buNone/>
                      </a:pPr>
                      <a:r>
                        <a:rPr lang="en-US" b="1">
                          <a:solidFill>
                            <a:srgbClr val="000000"/>
                          </a:solidFill>
                          <a:effectLst/>
                        </a:rPr>
                        <a:t>Maintenance</a:t>
                      </a:r>
                      <a:endParaRPr lang="en-US">
                        <a:solidFill>
                          <a:srgbClr val="000000"/>
                        </a:solidFill>
                        <a:effectLst/>
                      </a:endParaRPr>
                    </a:p>
                  </a:txBody>
                  <a:tcPr anchor="ctr"/>
                </a:tc>
                <a:tc>
                  <a:txBody>
                    <a:bodyPr/>
                    <a:lstStyle/>
                    <a:p>
                      <a:pPr>
                        <a:buNone/>
                      </a:pPr>
                      <a:r>
                        <a:rPr lang="en-US">
                          <a:solidFill>
                            <a:srgbClr val="000000"/>
                          </a:solidFill>
                          <a:effectLst/>
                        </a:rPr>
                        <a:t>Self-managed</a:t>
                      </a:r>
                    </a:p>
                  </a:txBody>
                  <a:tcPr anchor="ctr"/>
                </a:tc>
                <a:tc>
                  <a:txBody>
                    <a:bodyPr/>
                    <a:lstStyle/>
                    <a:p>
                      <a:pPr>
                        <a:buNone/>
                      </a:pPr>
                      <a:r>
                        <a:rPr lang="en-US">
                          <a:solidFill>
                            <a:srgbClr val="000000"/>
                          </a:solidFill>
                          <a:effectLst/>
                        </a:rPr>
                        <a:t>Provider-managed</a:t>
                      </a:r>
                    </a:p>
                  </a:txBody>
                  <a:tcPr anchor="ctr"/>
                </a:tc>
                <a:extLst>
                  <a:ext uri="{0D108BD9-81ED-4DB2-BD59-A6C34878D82A}">
                    <a16:rowId xmlns:a16="http://schemas.microsoft.com/office/drawing/2014/main" val="1892329935"/>
                  </a:ext>
                </a:extLst>
              </a:tr>
              <a:tr h="0">
                <a:tc>
                  <a:txBody>
                    <a:bodyPr/>
                    <a:lstStyle/>
                    <a:p>
                      <a:pPr>
                        <a:buNone/>
                      </a:pPr>
                      <a:r>
                        <a:rPr lang="en-US" b="1">
                          <a:solidFill>
                            <a:srgbClr val="000000"/>
                          </a:solidFill>
                          <a:effectLst/>
                        </a:rPr>
                        <a:t>Accessibility</a:t>
                      </a:r>
                      <a:endParaRPr lang="en-US">
                        <a:solidFill>
                          <a:srgbClr val="000000"/>
                        </a:solidFill>
                        <a:effectLst/>
                      </a:endParaRPr>
                    </a:p>
                  </a:txBody>
                  <a:tcPr anchor="ctr"/>
                </a:tc>
                <a:tc>
                  <a:txBody>
                    <a:bodyPr/>
                    <a:lstStyle/>
                    <a:p>
                      <a:pPr>
                        <a:buNone/>
                      </a:pPr>
                      <a:r>
                        <a:rPr lang="en-US">
                          <a:solidFill>
                            <a:srgbClr val="000000"/>
                          </a:solidFill>
                          <a:effectLst/>
                        </a:rPr>
                        <a:t>Limited to office</a:t>
                      </a:r>
                    </a:p>
                  </a:txBody>
                  <a:tcPr anchor="ctr"/>
                </a:tc>
                <a:tc>
                  <a:txBody>
                    <a:bodyPr/>
                    <a:lstStyle/>
                    <a:p>
                      <a:pPr>
                        <a:buNone/>
                      </a:pPr>
                      <a:r>
                        <a:rPr lang="en-US">
                          <a:solidFill>
                            <a:srgbClr val="000000"/>
                          </a:solidFill>
                          <a:effectLst/>
                        </a:rPr>
                        <a:t>Anywhere, anytime</a:t>
                      </a:r>
                    </a:p>
                  </a:txBody>
                  <a:tcPr anchor="ctr"/>
                </a:tc>
                <a:extLst>
                  <a:ext uri="{0D108BD9-81ED-4DB2-BD59-A6C34878D82A}">
                    <a16:rowId xmlns:a16="http://schemas.microsoft.com/office/drawing/2014/main" val="3867324722"/>
                  </a:ext>
                </a:extLst>
              </a:tr>
              <a:tr h="0">
                <a:tc>
                  <a:txBody>
                    <a:bodyPr/>
                    <a:lstStyle/>
                    <a:p>
                      <a:pPr>
                        <a:buNone/>
                      </a:pPr>
                      <a:r>
                        <a:rPr lang="en-US" b="1">
                          <a:solidFill>
                            <a:srgbClr val="000000"/>
                          </a:solidFill>
                          <a:effectLst/>
                        </a:rPr>
                        <a:t>Deployment Time</a:t>
                      </a:r>
                      <a:endParaRPr lang="en-US">
                        <a:solidFill>
                          <a:srgbClr val="000000"/>
                        </a:solidFill>
                        <a:effectLst/>
                      </a:endParaRPr>
                    </a:p>
                  </a:txBody>
                  <a:tcPr anchor="ctr"/>
                </a:tc>
                <a:tc>
                  <a:txBody>
                    <a:bodyPr/>
                    <a:lstStyle/>
                    <a:p>
                      <a:pPr>
                        <a:buNone/>
                      </a:pPr>
                      <a:r>
                        <a:rPr lang="en-US">
                          <a:solidFill>
                            <a:srgbClr val="000000"/>
                          </a:solidFill>
                          <a:effectLst/>
                        </a:rPr>
                        <a:t>Weeks to months</a:t>
                      </a:r>
                    </a:p>
                  </a:txBody>
                  <a:tcPr anchor="ctr"/>
                </a:tc>
                <a:tc>
                  <a:txBody>
                    <a:bodyPr/>
                    <a:lstStyle/>
                    <a:p>
                      <a:pPr>
                        <a:buNone/>
                      </a:pPr>
                      <a:r>
                        <a:rPr lang="en-US">
                          <a:solidFill>
                            <a:srgbClr val="000000"/>
                          </a:solidFill>
                          <a:effectLst/>
                        </a:rPr>
                        <a:t>Minutes to hours</a:t>
                      </a:r>
                    </a:p>
                  </a:txBody>
                  <a:tcPr anchor="ctr"/>
                </a:tc>
                <a:extLst>
                  <a:ext uri="{0D108BD9-81ED-4DB2-BD59-A6C34878D82A}">
                    <a16:rowId xmlns:a16="http://schemas.microsoft.com/office/drawing/2014/main" val="943738188"/>
                  </a:ext>
                </a:extLst>
              </a:tr>
              <a:tr h="0">
                <a:tc>
                  <a:txBody>
                    <a:bodyPr/>
                    <a:lstStyle/>
                    <a:p>
                      <a:pPr>
                        <a:buNone/>
                      </a:pPr>
                      <a:r>
                        <a:rPr lang="en-US" b="1">
                          <a:solidFill>
                            <a:srgbClr val="000000"/>
                          </a:solidFill>
                          <a:effectLst/>
                        </a:rPr>
                        <a:t>Resource Utilization</a:t>
                      </a:r>
                      <a:endParaRPr lang="en-US">
                        <a:solidFill>
                          <a:srgbClr val="000000"/>
                        </a:solidFill>
                        <a:effectLst/>
                      </a:endParaRPr>
                    </a:p>
                  </a:txBody>
                  <a:tcPr anchor="ctr"/>
                </a:tc>
                <a:tc>
                  <a:txBody>
                    <a:bodyPr/>
                    <a:lstStyle/>
                    <a:p>
                      <a:pPr>
                        <a:buNone/>
                      </a:pPr>
                      <a:r>
                        <a:rPr lang="en-US">
                          <a:solidFill>
                            <a:srgbClr val="000000"/>
                          </a:solidFill>
                          <a:effectLst/>
                        </a:rPr>
                        <a:t>Often underutilized</a:t>
                      </a:r>
                    </a:p>
                  </a:txBody>
                  <a:tcPr anchor="ctr"/>
                </a:tc>
                <a:tc>
                  <a:txBody>
                    <a:bodyPr/>
                    <a:lstStyle/>
                    <a:p>
                      <a:pPr>
                        <a:buNone/>
                      </a:pPr>
                      <a:r>
                        <a:rPr lang="en-US">
                          <a:solidFill>
                            <a:srgbClr val="000000"/>
                          </a:solidFill>
                          <a:effectLst/>
                        </a:rPr>
                        <a:t>Optimized usage</a:t>
                      </a:r>
                    </a:p>
                  </a:txBody>
                  <a:tcPr anchor="ctr"/>
                </a:tc>
                <a:extLst>
                  <a:ext uri="{0D108BD9-81ED-4DB2-BD59-A6C34878D82A}">
                    <a16:rowId xmlns:a16="http://schemas.microsoft.com/office/drawing/2014/main" val="4085329504"/>
                  </a:ext>
                </a:extLst>
              </a:tr>
              <a:tr h="0">
                <a:tc>
                  <a:txBody>
                    <a:bodyPr/>
                    <a:lstStyle/>
                    <a:p>
                      <a:pPr>
                        <a:buNone/>
                      </a:pPr>
                      <a:r>
                        <a:rPr lang="en-US" b="1">
                          <a:solidFill>
                            <a:srgbClr val="000000"/>
                          </a:solidFill>
                          <a:effectLst/>
                        </a:rPr>
                        <a:t>Disaster Recovery</a:t>
                      </a:r>
                      <a:endParaRPr lang="en-US">
                        <a:solidFill>
                          <a:srgbClr val="000000"/>
                        </a:solidFill>
                        <a:effectLst/>
                      </a:endParaRPr>
                    </a:p>
                  </a:txBody>
                  <a:tcPr anchor="ctr"/>
                </a:tc>
                <a:tc>
                  <a:txBody>
                    <a:bodyPr/>
                    <a:lstStyle/>
                    <a:p>
                      <a:pPr>
                        <a:buNone/>
                      </a:pPr>
                      <a:r>
                        <a:rPr lang="en-US">
                          <a:solidFill>
                            <a:srgbClr val="000000"/>
                          </a:solidFill>
                          <a:effectLst/>
                        </a:rPr>
                        <a:t>Expensive to implement</a:t>
                      </a:r>
                    </a:p>
                  </a:txBody>
                  <a:tcPr anchor="ctr"/>
                </a:tc>
                <a:tc>
                  <a:txBody>
                    <a:bodyPr/>
                    <a:lstStyle/>
                    <a:p>
                      <a:pPr>
                        <a:buNone/>
                      </a:pPr>
                      <a:r>
                        <a:rPr lang="en-US">
                          <a:solidFill>
                            <a:srgbClr val="000000"/>
                          </a:solidFill>
                          <a:effectLst/>
                        </a:rPr>
                        <a:t>Built-in options</a:t>
                      </a:r>
                    </a:p>
                  </a:txBody>
                  <a:tcPr anchor="ctr"/>
                </a:tc>
                <a:extLst>
                  <a:ext uri="{0D108BD9-81ED-4DB2-BD59-A6C34878D82A}">
                    <a16:rowId xmlns:a16="http://schemas.microsoft.com/office/drawing/2014/main" val="2609535735"/>
                  </a:ext>
                </a:extLst>
              </a:tr>
              <a:tr h="0">
                <a:tc>
                  <a:txBody>
                    <a:bodyPr/>
                    <a:lstStyle/>
                    <a:p>
                      <a:pPr>
                        <a:buNone/>
                      </a:pPr>
                      <a:r>
                        <a:rPr lang="en-US" b="1">
                          <a:solidFill>
                            <a:srgbClr val="000000"/>
                          </a:solidFill>
                          <a:effectLst/>
                        </a:rPr>
                        <a:t>Expertise Required</a:t>
                      </a:r>
                      <a:endParaRPr lang="en-US">
                        <a:solidFill>
                          <a:srgbClr val="000000"/>
                        </a:solidFill>
                        <a:effectLst/>
                      </a:endParaRPr>
                    </a:p>
                  </a:txBody>
                  <a:tcPr anchor="ctr"/>
                </a:tc>
                <a:tc>
                  <a:txBody>
                    <a:bodyPr/>
                    <a:lstStyle/>
                    <a:p>
                      <a:pPr>
                        <a:buNone/>
                      </a:pPr>
                      <a:r>
                        <a:rPr lang="en-US">
                          <a:solidFill>
                            <a:srgbClr val="000000"/>
                          </a:solidFill>
                          <a:effectLst/>
                        </a:rPr>
                        <a:t>High technical staff</a:t>
                      </a:r>
                    </a:p>
                  </a:txBody>
                  <a:tcPr anchor="ctr"/>
                </a:tc>
                <a:tc>
                  <a:txBody>
                    <a:bodyPr/>
                    <a:lstStyle/>
                    <a:p>
                      <a:pPr>
                        <a:buNone/>
                      </a:pPr>
                      <a:r>
                        <a:rPr lang="en-US" dirty="0">
                          <a:solidFill>
                            <a:srgbClr val="000000"/>
                          </a:solidFill>
                          <a:effectLst/>
                        </a:rPr>
                        <a:t>Reduced need</a:t>
                      </a:r>
                    </a:p>
                  </a:txBody>
                  <a:tcPr anchor="ctr"/>
                </a:tc>
                <a:extLst>
                  <a:ext uri="{0D108BD9-81ED-4DB2-BD59-A6C34878D82A}">
                    <a16:rowId xmlns:a16="http://schemas.microsoft.com/office/drawing/2014/main" val="2350318130"/>
                  </a:ext>
                </a:extLst>
              </a:tr>
            </a:tbl>
          </a:graphicData>
        </a:graphic>
      </p:graphicFrame>
    </p:spTree>
    <p:extLst>
      <p:ext uri="{BB962C8B-B14F-4D97-AF65-F5344CB8AC3E}">
        <p14:creationId xmlns:p14="http://schemas.microsoft.com/office/powerpoint/2010/main" val="1981736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12F59-C0AA-AC03-7D73-5C39B5B5B037}"/>
              </a:ext>
            </a:extLst>
          </p:cNvPr>
          <p:cNvSpPr>
            <a:spLocks noGrp="1"/>
          </p:cNvSpPr>
          <p:nvPr>
            <p:ph type="title"/>
          </p:nvPr>
        </p:nvSpPr>
        <p:spPr/>
        <p:txBody>
          <a:bodyPr/>
          <a:lstStyle/>
          <a:p>
            <a:r>
              <a:rPr lang="en-US" dirty="0"/>
              <a:t>Cost Analysis</a:t>
            </a:r>
          </a:p>
        </p:txBody>
      </p:sp>
      <p:sp>
        <p:nvSpPr>
          <p:cNvPr id="3" name="Content Placeholder 2">
            <a:extLst>
              <a:ext uri="{FF2B5EF4-FFF2-40B4-BE49-F238E27FC236}">
                <a16:creationId xmlns:a16="http://schemas.microsoft.com/office/drawing/2014/main" id="{E45641DB-FCCF-459E-2301-B128185FF88E}"/>
              </a:ext>
            </a:extLst>
          </p:cNvPr>
          <p:cNvSpPr>
            <a:spLocks noGrp="1"/>
          </p:cNvSpPr>
          <p:nvPr>
            <p:ph idx="1"/>
          </p:nvPr>
        </p:nvSpPr>
        <p:spPr/>
        <p:txBody>
          <a:bodyPr>
            <a:normAutofit fontScale="77500" lnSpcReduction="20000"/>
          </a:bodyPr>
          <a:lstStyle/>
          <a:p>
            <a:pPr>
              <a:spcBef>
                <a:spcPts val="900"/>
              </a:spcBef>
              <a:buNone/>
            </a:pPr>
            <a:r>
              <a:rPr lang="en-US" b="1" dirty="0">
                <a:solidFill>
                  <a:srgbClr val="000000"/>
                </a:solidFill>
                <a:effectLst/>
              </a:rPr>
              <a:t>Traditional IT:</a:t>
            </a:r>
          </a:p>
          <a:p>
            <a:pPr>
              <a:spcBef>
                <a:spcPts val="600"/>
              </a:spcBef>
              <a:buFont typeface="Arial" panose="020B0604020202020204" pitchFamily="34" charset="0"/>
              <a:buChar char="•"/>
            </a:pPr>
            <a:r>
              <a:rPr lang="en-US" dirty="0">
                <a:solidFill>
                  <a:srgbClr val="000000"/>
                </a:solidFill>
                <a:effectLst/>
              </a:rPr>
              <a:t>Server hardware: NPR 5-10 lakhs</a:t>
            </a:r>
          </a:p>
          <a:p>
            <a:pPr>
              <a:spcBef>
                <a:spcPts val="600"/>
              </a:spcBef>
              <a:buFont typeface="Arial" panose="020B0604020202020204" pitchFamily="34" charset="0"/>
              <a:buChar char="•"/>
            </a:pPr>
            <a:r>
              <a:rPr lang="en-US" dirty="0">
                <a:solidFill>
                  <a:srgbClr val="000000"/>
                </a:solidFill>
                <a:effectLst/>
              </a:rPr>
              <a:t>Networking equipment: NPR 2-5 lakhs</a:t>
            </a:r>
          </a:p>
          <a:p>
            <a:pPr>
              <a:spcBef>
                <a:spcPts val="600"/>
              </a:spcBef>
              <a:buFont typeface="Arial" panose="020B0604020202020204" pitchFamily="34" charset="0"/>
              <a:buChar char="•"/>
            </a:pPr>
            <a:r>
              <a:rPr lang="en-US" dirty="0">
                <a:solidFill>
                  <a:srgbClr val="000000"/>
                </a:solidFill>
                <a:effectLst/>
              </a:rPr>
              <a:t>Cooling &amp; power systems</a:t>
            </a:r>
          </a:p>
          <a:p>
            <a:pPr>
              <a:spcBef>
                <a:spcPts val="600"/>
              </a:spcBef>
              <a:buFont typeface="Arial" panose="020B0604020202020204" pitchFamily="34" charset="0"/>
              <a:buChar char="•"/>
            </a:pPr>
            <a:r>
              <a:rPr lang="en-US" dirty="0">
                <a:solidFill>
                  <a:srgbClr val="000000"/>
                </a:solidFill>
                <a:effectLst/>
              </a:rPr>
              <a:t>Physical space rental</a:t>
            </a:r>
          </a:p>
          <a:p>
            <a:pPr>
              <a:spcBef>
                <a:spcPts val="600"/>
              </a:spcBef>
              <a:buFont typeface="Arial" panose="020B0604020202020204" pitchFamily="34" charset="0"/>
              <a:buChar char="•"/>
            </a:pPr>
            <a:r>
              <a:rPr lang="en-US" dirty="0">
                <a:solidFill>
                  <a:srgbClr val="000000"/>
                </a:solidFill>
                <a:effectLst/>
              </a:rPr>
              <a:t>IT staff salaries</a:t>
            </a:r>
          </a:p>
          <a:p>
            <a:pPr>
              <a:spcBef>
                <a:spcPts val="600"/>
              </a:spcBef>
              <a:buFont typeface="Arial" panose="020B0604020202020204" pitchFamily="34" charset="0"/>
              <a:buChar char="•"/>
            </a:pPr>
            <a:r>
              <a:rPr lang="en-US" dirty="0">
                <a:solidFill>
                  <a:srgbClr val="000000"/>
                </a:solidFill>
                <a:effectLst/>
              </a:rPr>
              <a:t>Maintenance &amp; upgrades</a:t>
            </a:r>
          </a:p>
          <a:p>
            <a:pPr>
              <a:spcBef>
                <a:spcPts val="600"/>
              </a:spcBef>
              <a:buFont typeface="Arial" panose="020B0604020202020204" pitchFamily="34" charset="0"/>
              <a:buChar char="•"/>
            </a:pPr>
            <a:r>
              <a:rPr lang="en-US" b="1" dirty="0">
                <a:solidFill>
                  <a:srgbClr val="000000"/>
                </a:solidFill>
                <a:effectLst/>
              </a:rPr>
              <a:t>Total:</a:t>
            </a:r>
            <a:r>
              <a:rPr lang="en-US" dirty="0">
                <a:solidFill>
                  <a:srgbClr val="000000"/>
                </a:solidFill>
                <a:effectLst/>
              </a:rPr>
              <a:t> High upfront + ongoing costs</a:t>
            </a:r>
          </a:p>
          <a:p>
            <a:pPr>
              <a:spcBef>
                <a:spcPts val="1200"/>
              </a:spcBef>
              <a:buNone/>
            </a:pPr>
            <a:r>
              <a:rPr lang="en-US" b="1" dirty="0">
                <a:solidFill>
                  <a:srgbClr val="000000"/>
                </a:solidFill>
                <a:effectLst/>
              </a:rPr>
              <a:t>Cloud Computing:</a:t>
            </a:r>
          </a:p>
          <a:p>
            <a:pPr>
              <a:spcBef>
                <a:spcPts val="600"/>
              </a:spcBef>
              <a:buFont typeface="Arial" panose="020B0604020202020204" pitchFamily="34" charset="0"/>
              <a:buChar char="•"/>
            </a:pPr>
            <a:r>
              <a:rPr lang="en-US" dirty="0">
                <a:solidFill>
                  <a:srgbClr val="000000"/>
                </a:solidFill>
                <a:effectLst/>
              </a:rPr>
              <a:t>No hardware costs</a:t>
            </a:r>
          </a:p>
          <a:p>
            <a:pPr>
              <a:spcBef>
                <a:spcPts val="600"/>
              </a:spcBef>
              <a:buFont typeface="Arial" panose="020B0604020202020204" pitchFamily="34" charset="0"/>
              <a:buChar char="•"/>
            </a:pPr>
            <a:r>
              <a:rPr lang="en-US" dirty="0">
                <a:solidFill>
                  <a:srgbClr val="000000"/>
                </a:solidFill>
                <a:effectLst/>
              </a:rPr>
              <a:t>Pay for what you use</a:t>
            </a:r>
          </a:p>
          <a:p>
            <a:pPr>
              <a:spcBef>
                <a:spcPts val="600"/>
              </a:spcBef>
              <a:buFont typeface="Arial" panose="020B0604020202020204" pitchFamily="34" charset="0"/>
              <a:buChar char="•"/>
            </a:pPr>
            <a:r>
              <a:rPr lang="en-US" dirty="0">
                <a:solidFill>
                  <a:srgbClr val="000000"/>
                </a:solidFill>
                <a:effectLst/>
              </a:rPr>
              <a:t>Minimal IT staff needed</a:t>
            </a:r>
          </a:p>
          <a:p>
            <a:pPr>
              <a:spcBef>
                <a:spcPts val="600"/>
              </a:spcBef>
              <a:buFont typeface="Arial" panose="020B0604020202020204" pitchFamily="34" charset="0"/>
              <a:buChar char="•"/>
            </a:pPr>
            <a:r>
              <a:rPr lang="en-US" dirty="0">
                <a:solidFill>
                  <a:srgbClr val="000000"/>
                </a:solidFill>
                <a:effectLst/>
              </a:rPr>
              <a:t>Automatic updates</a:t>
            </a:r>
          </a:p>
          <a:p>
            <a:pPr>
              <a:spcBef>
                <a:spcPts val="600"/>
              </a:spcBef>
              <a:buFont typeface="Arial" panose="020B0604020202020204" pitchFamily="34" charset="0"/>
              <a:buChar char="•"/>
            </a:pPr>
            <a:r>
              <a:rPr lang="en-US" b="1" dirty="0">
                <a:solidFill>
                  <a:srgbClr val="000000"/>
                </a:solidFill>
                <a:effectLst/>
              </a:rPr>
              <a:t>Total:</a:t>
            </a:r>
            <a:r>
              <a:rPr lang="en-US" dirty="0">
                <a:solidFill>
                  <a:srgbClr val="000000"/>
                </a:solidFill>
                <a:effectLst/>
              </a:rPr>
              <a:t> Low initial + predictable monthly costs</a:t>
            </a:r>
          </a:p>
          <a:p>
            <a:pPr marL="0" indent="0">
              <a:buNone/>
            </a:pPr>
            <a:endParaRPr lang="en-US" dirty="0"/>
          </a:p>
        </p:txBody>
      </p:sp>
    </p:spTree>
    <p:extLst>
      <p:ext uri="{BB962C8B-B14F-4D97-AF65-F5344CB8AC3E}">
        <p14:creationId xmlns:p14="http://schemas.microsoft.com/office/powerpoint/2010/main" val="2780147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58F0F-4A7E-4162-C650-B473FBE8BB69}"/>
              </a:ext>
            </a:extLst>
          </p:cNvPr>
          <p:cNvSpPr>
            <a:spLocks noGrp="1"/>
          </p:cNvSpPr>
          <p:nvPr>
            <p:ph type="title"/>
          </p:nvPr>
        </p:nvSpPr>
        <p:spPr/>
        <p:txBody>
          <a:bodyPr/>
          <a:lstStyle/>
          <a:p>
            <a:r>
              <a:rPr lang="en-US" dirty="0"/>
              <a:t>When to use each?</a:t>
            </a:r>
          </a:p>
        </p:txBody>
      </p:sp>
      <p:sp>
        <p:nvSpPr>
          <p:cNvPr id="3" name="Content Placeholder 2">
            <a:extLst>
              <a:ext uri="{FF2B5EF4-FFF2-40B4-BE49-F238E27FC236}">
                <a16:creationId xmlns:a16="http://schemas.microsoft.com/office/drawing/2014/main" id="{39AD84DE-3E31-247D-96E9-76F48E98931D}"/>
              </a:ext>
            </a:extLst>
          </p:cNvPr>
          <p:cNvSpPr>
            <a:spLocks noGrp="1"/>
          </p:cNvSpPr>
          <p:nvPr>
            <p:ph idx="1"/>
          </p:nvPr>
        </p:nvSpPr>
        <p:spPr/>
        <p:txBody>
          <a:bodyPr>
            <a:normAutofit fontScale="92500" lnSpcReduction="10000"/>
          </a:bodyPr>
          <a:lstStyle/>
          <a:p>
            <a:pPr>
              <a:spcBef>
                <a:spcPts val="900"/>
              </a:spcBef>
              <a:buNone/>
            </a:pPr>
            <a:r>
              <a:rPr lang="en-US" b="1" dirty="0">
                <a:solidFill>
                  <a:srgbClr val="000000"/>
                </a:solidFill>
                <a:effectLst/>
              </a:rPr>
              <a:t>Traditional IT Best For:</a:t>
            </a:r>
          </a:p>
          <a:p>
            <a:pPr>
              <a:spcBef>
                <a:spcPts val="600"/>
              </a:spcBef>
              <a:buFont typeface="Arial" panose="020B0604020202020204" pitchFamily="34" charset="0"/>
              <a:buChar char="•"/>
            </a:pPr>
            <a:r>
              <a:rPr lang="en-US" dirty="0">
                <a:solidFill>
                  <a:srgbClr val="000000"/>
                </a:solidFill>
                <a:effectLst/>
              </a:rPr>
              <a:t>✓ Strict regulatory compliance (certain government data)</a:t>
            </a:r>
          </a:p>
          <a:p>
            <a:pPr>
              <a:spcBef>
                <a:spcPts val="600"/>
              </a:spcBef>
              <a:buFont typeface="Arial" panose="020B0604020202020204" pitchFamily="34" charset="0"/>
              <a:buChar char="•"/>
            </a:pPr>
            <a:r>
              <a:rPr lang="en-US" dirty="0">
                <a:solidFill>
                  <a:srgbClr val="000000"/>
                </a:solidFill>
                <a:effectLst/>
              </a:rPr>
              <a:t>✓ Complete control requirements</a:t>
            </a:r>
          </a:p>
          <a:p>
            <a:pPr>
              <a:spcBef>
                <a:spcPts val="600"/>
              </a:spcBef>
              <a:buFont typeface="Arial" panose="020B0604020202020204" pitchFamily="34" charset="0"/>
              <a:buChar char="•"/>
            </a:pPr>
            <a:r>
              <a:rPr lang="en-US" dirty="0">
                <a:solidFill>
                  <a:srgbClr val="000000"/>
                </a:solidFill>
                <a:effectLst/>
              </a:rPr>
              <a:t>✓ Predictable, stable workloads</a:t>
            </a:r>
          </a:p>
          <a:p>
            <a:pPr>
              <a:spcBef>
                <a:spcPts val="600"/>
              </a:spcBef>
              <a:buFont typeface="Arial" panose="020B0604020202020204" pitchFamily="34" charset="0"/>
              <a:buChar char="•"/>
            </a:pPr>
            <a:r>
              <a:rPr lang="en-US" dirty="0">
                <a:solidFill>
                  <a:srgbClr val="000000"/>
                </a:solidFill>
                <a:effectLst/>
              </a:rPr>
              <a:t>✓ Legacy applications that can't migrate</a:t>
            </a:r>
          </a:p>
          <a:p>
            <a:pPr>
              <a:spcBef>
                <a:spcPts val="1200"/>
              </a:spcBef>
              <a:buNone/>
            </a:pPr>
            <a:r>
              <a:rPr lang="en-US" b="1" dirty="0">
                <a:solidFill>
                  <a:srgbClr val="000000"/>
                </a:solidFill>
                <a:effectLst/>
              </a:rPr>
              <a:t>Cloud Computing Best For:</a:t>
            </a:r>
          </a:p>
          <a:p>
            <a:pPr>
              <a:spcBef>
                <a:spcPts val="600"/>
              </a:spcBef>
              <a:buFont typeface="Arial" panose="020B0604020202020204" pitchFamily="34" charset="0"/>
              <a:buChar char="•"/>
            </a:pPr>
            <a:r>
              <a:rPr lang="en-US" dirty="0">
                <a:solidFill>
                  <a:srgbClr val="000000"/>
                </a:solidFill>
                <a:effectLst/>
              </a:rPr>
              <a:t>✓ Startups with limited capital</a:t>
            </a:r>
          </a:p>
          <a:p>
            <a:pPr>
              <a:spcBef>
                <a:spcPts val="600"/>
              </a:spcBef>
              <a:buFont typeface="Arial" panose="020B0604020202020204" pitchFamily="34" charset="0"/>
              <a:buChar char="•"/>
            </a:pPr>
            <a:r>
              <a:rPr lang="en-US" dirty="0">
                <a:solidFill>
                  <a:srgbClr val="000000"/>
                </a:solidFill>
                <a:effectLst/>
              </a:rPr>
              <a:t>✓ Variable workloads</a:t>
            </a:r>
          </a:p>
          <a:p>
            <a:pPr>
              <a:spcBef>
                <a:spcPts val="600"/>
              </a:spcBef>
              <a:buFont typeface="Arial" panose="020B0604020202020204" pitchFamily="34" charset="0"/>
              <a:buChar char="•"/>
            </a:pPr>
            <a:r>
              <a:rPr lang="en-US" dirty="0">
                <a:solidFill>
                  <a:srgbClr val="000000"/>
                </a:solidFill>
                <a:effectLst/>
              </a:rPr>
              <a:t>✓ Rapid development and deployment</a:t>
            </a:r>
          </a:p>
          <a:p>
            <a:pPr>
              <a:spcBef>
                <a:spcPts val="600"/>
              </a:spcBef>
              <a:buFont typeface="Arial" panose="020B0604020202020204" pitchFamily="34" charset="0"/>
              <a:buChar char="•"/>
            </a:pPr>
            <a:r>
              <a:rPr lang="en-US" dirty="0">
                <a:solidFill>
                  <a:srgbClr val="000000"/>
                </a:solidFill>
                <a:effectLst/>
              </a:rPr>
              <a:t>✓ Global accessibility requirements</a:t>
            </a:r>
          </a:p>
          <a:p>
            <a:pPr>
              <a:spcBef>
                <a:spcPts val="600"/>
              </a:spcBef>
              <a:buFont typeface="Arial" panose="020B0604020202020204" pitchFamily="34" charset="0"/>
              <a:buChar char="•"/>
            </a:pPr>
            <a:r>
              <a:rPr lang="en-US" dirty="0">
                <a:solidFill>
                  <a:srgbClr val="000000"/>
                </a:solidFill>
                <a:effectLst/>
              </a:rPr>
              <a:t>✓ Modern applications</a:t>
            </a:r>
          </a:p>
          <a:p>
            <a:pPr marL="0" indent="0">
              <a:buNone/>
            </a:pPr>
            <a:endParaRPr lang="en-US" dirty="0"/>
          </a:p>
        </p:txBody>
      </p:sp>
    </p:spTree>
    <p:extLst>
      <p:ext uri="{BB962C8B-B14F-4D97-AF65-F5344CB8AC3E}">
        <p14:creationId xmlns:p14="http://schemas.microsoft.com/office/powerpoint/2010/main" val="4040497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EF65-5F01-24AA-CB63-0E181C069365}"/>
              </a:ext>
            </a:extLst>
          </p:cNvPr>
          <p:cNvSpPr>
            <a:spLocks noGrp="1"/>
          </p:cNvSpPr>
          <p:nvPr>
            <p:ph type="title"/>
          </p:nvPr>
        </p:nvSpPr>
        <p:spPr/>
        <p:txBody>
          <a:bodyPr/>
          <a:lstStyle/>
          <a:p>
            <a:r>
              <a:rPr lang="en-US" dirty="0"/>
              <a:t>The Three Big Cloud Providers</a:t>
            </a:r>
          </a:p>
        </p:txBody>
      </p:sp>
      <p:sp>
        <p:nvSpPr>
          <p:cNvPr id="3" name="Content Placeholder 2">
            <a:extLst>
              <a:ext uri="{FF2B5EF4-FFF2-40B4-BE49-F238E27FC236}">
                <a16:creationId xmlns:a16="http://schemas.microsoft.com/office/drawing/2014/main" id="{B965CD42-E307-BA6E-9686-6F1A91901935}"/>
              </a:ext>
            </a:extLst>
          </p:cNvPr>
          <p:cNvSpPr>
            <a:spLocks noGrp="1"/>
          </p:cNvSpPr>
          <p:nvPr>
            <p:ph idx="1"/>
          </p:nvPr>
        </p:nvSpPr>
        <p:spPr/>
        <p:txBody>
          <a:bodyPr/>
          <a:lstStyle/>
          <a:p>
            <a:pPr>
              <a:spcBef>
                <a:spcPts val="900"/>
              </a:spcBef>
              <a:buNone/>
            </a:pPr>
            <a:r>
              <a:rPr lang="en-US" b="1" dirty="0">
                <a:solidFill>
                  <a:srgbClr val="000000"/>
                </a:solidFill>
                <a:effectLst/>
              </a:rPr>
              <a:t>Market Leaders (2024):</a:t>
            </a:r>
          </a:p>
          <a:p>
            <a:pPr>
              <a:spcBef>
                <a:spcPts val="600"/>
              </a:spcBef>
              <a:buFont typeface="+mj-lt"/>
              <a:buAutoNum type="arabicPeriod"/>
            </a:pPr>
            <a:r>
              <a:rPr lang="en-US" b="1" dirty="0">
                <a:solidFill>
                  <a:srgbClr val="000000"/>
                </a:solidFill>
                <a:effectLst/>
              </a:rPr>
              <a:t>Amazon Web Services (AWS)</a:t>
            </a:r>
            <a:r>
              <a:rPr lang="en-US" dirty="0">
                <a:solidFill>
                  <a:srgbClr val="000000"/>
                </a:solidFill>
                <a:effectLst/>
              </a:rPr>
              <a:t> - ~32% market share</a:t>
            </a:r>
          </a:p>
          <a:p>
            <a:pPr>
              <a:spcBef>
                <a:spcPts val="600"/>
              </a:spcBef>
              <a:buFont typeface="+mj-lt"/>
              <a:buAutoNum type="arabicPeriod"/>
            </a:pPr>
            <a:r>
              <a:rPr lang="en-US" b="1" dirty="0">
                <a:solidFill>
                  <a:srgbClr val="000000"/>
                </a:solidFill>
                <a:effectLst/>
              </a:rPr>
              <a:t>Microsoft Azure</a:t>
            </a:r>
            <a:r>
              <a:rPr lang="en-US" dirty="0">
                <a:solidFill>
                  <a:srgbClr val="000000"/>
                </a:solidFill>
                <a:effectLst/>
              </a:rPr>
              <a:t> - ~23% market share</a:t>
            </a:r>
          </a:p>
          <a:p>
            <a:pPr>
              <a:spcBef>
                <a:spcPts val="600"/>
              </a:spcBef>
              <a:buFont typeface="+mj-lt"/>
              <a:buAutoNum type="arabicPeriod"/>
            </a:pPr>
            <a:r>
              <a:rPr lang="en-US" b="1" dirty="0">
                <a:solidFill>
                  <a:srgbClr val="000000"/>
                </a:solidFill>
                <a:effectLst/>
              </a:rPr>
              <a:t>Google Cloud Platform (GCP)</a:t>
            </a:r>
            <a:r>
              <a:rPr lang="en-US" dirty="0">
                <a:solidFill>
                  <a:srgbClr val="000000"/>
                </a:solidFill>
                <a:effectLst/>
              </a:rPr>
              <a:t> - ~10% market share</a:t>
            </a:r>
          </a:p>
          <a:p>
            <a:pPr>
              <a:spcBef>
                <a:spcPts val="1200"/>
              </a:spcBef>
              <a:buNone/>
            </a:pPr>
            <a:r>
              <a:rPr lang="en-US" b="1" dirty="0">
                <a:solidFill>
                  <a:srgbClr val="000000"/>
                </a:solidFill>
                <a:effectLst/>
              </a:rPr>
              <a:t>Others:</a:t>
            </a:r>
            <a:r>
              <a:rPr lang="en-US" dirty="0">
                <a:solidFill>
                  <a:srgbClr val="000000"/>
                </a:solidFill>
                <a:effectLst/>
              </a:rPr>
              <a:t> IBM Cloud, Oracle Cloud, Alibaba Cloud, </a:t>
            </a:r>
            <a:r>
              <a:rPr lang="en-US" dirty="0" err="1">
                <a:solidFill>
                  <a:srgbClr val="000000"/>
                </a:solidFill>
                <a:effectLst/>
              </a:rPr>
              <a:t>DigitalOcean</a:t>
            </a:r>
            <a:endParaRPr lang="en-US" dirty="0">
              <a:solidFill>
                <a:srgbClr val="000000"/>
              </a:solidFill>
              <a:effectLst/>
            </a:endParaRPr>
          </a:p>
          <a:p>
            <a:pPr marL="0" indent="0">
              <a:buNone/>
            </a:pPr>
            <a:endParaRPr lang="en-US" dirty="0"/>
          </a:p>
        </p:txBody>
      </p:sp>
    </p:spTree>
    <p:extLst>
      <p:ext uri="{BB962C8B-B14F-4D97-AF65-F5344CB8AC3E}">
        <p14:creationId xmlns:p14="http://schemas.microsoft.com/office/powerpoint/2010/main" val="250604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80338-02E9-F849-1450-B8C163C45172}"/>
              </a:ext>
            </a:extLst>
          </p:cNvPr>
          <p:cNvSpPr>
            <a:spLocks noGrp="1"/>
          </p:cNvSpPr>
          <p:nvPr>
            <p:ph type="title"/>
          </p:nvPr>
        </p:nvSpPr>
        <p:spPr/>
        <p:txBody>
          <a:bodyPr/>
          <a:lstStyle/>
          <a:p>
            <a:r>
              <a:rPr lang="en-US" dirty="0"/>
              <a:t>Amazon Web Services (AWS)</a:t>
            </a:r>
          </a:p>
        </p:txBody>
      </p:sp>
      <p:sp>
        <p:nvSpPr>
          <p:cNvPr id="3" name="Content Placeholder 2">
            <a:extLst>
              <a:ext uri="{FF2B5EF4-FFF2-40B4-BE49-F238E27FC236}">
                <a16:creationId xmlns:a16="http://schemas.microsoft.com/office/drawing/2014/main" id="{54EA8D22-2A56-E11B-DA08-E1436440816F}"/>
              </a:ext>
            </a:extLst>
          </p:cNvPr>
          <p:cNvSpPr>
            <a:spLocks noGrp="1"/>
          </p:cNvSpPr>
          <p:nvPr>
            <p:ph idx="1"/>
          </p:nvPr>
        </p:nvSpPr>
        <p:spPr/>
        <p:txBody>
          <a:bodyPr>
            <a:normAutofit fontScale="92500" lnSpcReduction="10000"/>
          </a:bodyPr>
          <a:lstStyle/>
          <a:p>
            <a:pPr>
              <a:spcBef>
                <a:spcPts val="900"/>
              </a:spcBef>
              <a:buNone/>
            </a:pPr>
            <a:r>
              <a:rPr lang="en-US" b="1" dirty="0">
                <a:solidFill>
                  <a:srgbClr val="000000"/>
                </a:solidFill>
                <a:effectLst/>
              </a:rPr>
              <a:t>Founded:</a:t>
            </a:r>
            <a:r>
              <a:rPr lang="en-US" dirty="0">
                <a:solidFill>
                  <a:srgbClr val="000000"/>
                </a:solidFill>
                <a:effectLst/>
              </a:rPr>
              <a:t> 2006 (Pioneer in cloud computing)</a:t>
            </a:r>
          </a:p>
          <a:p>
            <a:pPr>
              <a:spcBef>
                <a:spcPts val="900"/>
              </a:spcBef>
              <a:buNone/>
            </a:pPr>
            <a:r>
              <a:rPr lang="en-US" b="1" dirty="0">
                <a:solidFill>
                  <a:srgbClr val="000000"/>
                </a:solidFill>
                <a:effectLst/>
              </a:rPr>
              <a:t>Key Services:</a:t>
            </a:r>
            <a:endParaRPr lang="en-US" dirty="0">
              <a:solidFill>
                <a:srgbClr val="000000"/>
              </a:solidFill>
              <a:effectLst/>
            </a:endParaRPr>
          </a:p>
          <a:p>
            <a:pPr>
              <a:spcBef>
                <a:spcPts val="600"/>
              </a:spcBef>
              <a:buFont typeface="Arial" panose="020B0604020202020204" pitchFamily="34" charset="0"/>
              <a:buChar char="•"/>
            </a:pPr>
            <a:r>
              <a:rPr lang="en-US" b="1" dirty="0">
                <a:solidFill>
                  <a:srgbClr val="000000"/>
                </a:solidFill>
                <a:effectLst/>
              </a:rPr>
              <a:t>Compute:</a:t>
            </a:r>
            <a:r>
              <a:rPr lang="en-US" dirty="0">
                <a:solidFill>
                  <a:srgbClr val="000000"/>
                </a:solidFill>
                <a:effectLst/>
              </a:rPr>
              <a:t> EC2 (Virtual Servers), Lambda (Serverless)</a:t>
            </a:r>
          </a:p>
          <a:p>
            <a:pPr>
              <a:spcBef>
                <a:spcPts val="600"/>
              </a:spcBef>
              <a:buFont typeface="Arial" panose="020B0604020202020204" pitchFamily="34" charset="0"/>
              <a:buChar char="•"/>
            </a:pPr>
            <a:r>
              <a:rPr lang="en-US" b="1" dirty="0">
                <a:solidFill>
                  <a:srgbClr val="000000"/>
                </a:solidFill>
                <a:effectLst/>
              </a:rPr>
              <a:t>Storage:</a:t>
            </a:r>
            <a:r>
              <a:rPr lang="en-US" dirty="0">
                <a:solidFill>
                  <a:srgbClr val="000000"/>
                </a:solidFill>
                <a:effectLst/>
              </a:rPr>
              <a:t> S3 (Object Storage), EBS (Block Storage)</a:t>
            </a:r>
          </a:p>
          <a:p>
            <a:pPr>
              <a:spcBef>
                <a:spcPts val="600"/>
              </a:spcBef>
              <a:buFont typeface="Arial" panose="020B0604020202020204" pitchFamily="34" charset="0"/>
              <a:buChar char="•"/>
            </a:pPr>
            <a:r>
              <a:rPr lang="en-US" b="1" dirty="0">
                <a:solidFill>
                  <a:srgbClr val="000000"/>
                </a:solidFill>
                <a:effectLst/>
              </a:rPr>
              <a:t>Database:</a:t>
            </a:r>
            <a:r>
              <a:rPr lang="en-US" dirty="0">
                <a:solidFill>
                  <a:srgbClr val="000000"/>
                </a:solidFill>
                <a:effectLst/>
              </a:rPr>
              <a:t> RDS, DynamoDB</a:t>
            </a:r>
          </a:p>
          <a:p>
            <a:pPr>
              <a:spcBef>
                <a:spcPts val="600"/>
              </a:spcBef>
              <a:buFont typeface="Arial" panose="020B0604020202020204" pitchFamily="34" charset="0"/>
              <a:buChar char="•"/>
            </a:pPr>
            <a:r>
              <a:rPr lang="en-US" b="1" dirty="0">
                <a:solidFill>
                  <a:srgbClr val="000000"/>
                </a:solidFill>
                <a:effectLst/>
              </a:rPr>
              <a:t>AI/ML:</a:t>
            </a:r>
            <a:r>
              <a:rPr lang="en-US" dirty="0">
                <a:solidFill>
                  <a:srgbClr val="000000"/>
                </a:solidFill>
                <a:effectLst/>
              </a:rPr>
              <a:t> SageMaker, </a:t>
            </a:r>
            <a:r>
              <a:rPr lang="en-US" dirty="0" err="1">
                <a:solidFill>
                  <a:srgbClr val="000000"/>
                </a:solidFill>
                <a:effectLst/>
              </a:rPr>
              <a:t>Rekognition</a:t>
            </a:r>
            <a:endParaRPr lang="en-US" dirty="0">
              <a:solidFill>
                <a:srgbClr val="000000"/>
              </a:solidFill>
              <a:effectLst/>
            </a:endParaRPr>
          </a:p>
          <a:p>
            <a:pPr>
              <a:spcBef>
                <a:spcPts val="1200"/>
              </a:spcBef>
              <a:buNone/>
            </a:pPr>
            <a:r>
              <a:rPr lang="en-US" b="1" dirty="0">
                <a:solidFill>
                  <a:srgbClr val="000000"/>
                </a:solidFill>
                <a:effectLst/>
              </a:rPr>
              <a:t>Strengths:</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Most mature and comprehensive service portfolio (200+ services)</a:t>
            </a:r>
          </a:p>
          <a:p>
            <a:pPr>
              <a:spcBef>
                <a:spcPts val="600"/>
              </a:spcBef>
              <a:buFont typeface="Arial" panose="020B0604020202020204" pitchFamily="34" charset="0"/>
              <a:buChar char="•"/>
            </a:pPr>
            <a:r>
              <a:rPr lang="en-US" dirty="0">
                <a:solidFill>
                  <a:srgbClr val="000000"/>
                </a:solidFill>
                <a:effectLst/>
              </a:rPr>
              <a:t>Largest global infrastructure (30+ regions)</a:t>
            </a:r>
          </a:p>
          <a:p>
            <a:pPr>
              <a:spcBef>
                <a:spcPts val="600"/>
              </a:spcBef>
              <a:buFont typeface="Arial" panose="020B0604020202020204" pitchFamily="34" charset="0"/>
              <a:buChar char="•"/>
            </a:pPr>
            <a:r>
              <a:rPr lang="en-US" dirty="0">
                <a:solidFill>
                  <a:srgbClr val="000000"/>
                </a:solidFill>
                <a:effectLst/>
              </a:rPr>
              <a:t>Strong ecosystem and community</a:t>
            </a:r>
          </a:p>
          <a:p>
            <a:pPr>
              <a:spcBef>
                <a:spcPts val="1200"/>
              </a:spcBef>
              <a:buNone/>
            </a:pPr>
            <a:r>
              <a:rPr lang="en-US" b="1" dirty="0">
                <a:solidFill>
                  <a:srgbClr val="000000"/>
                </a:solidFill>
                <a:effectLst/>
              </a:rPr>
              <a:t>Nepal Context:</a:t>
            </a:r>
            <a:r>
              <a:rPr lang="en-US" dirty="0">
                <a:solidFill>
                  <a:srgbClr val="000000"/>
                </a:solidFill>
                <a:effectLst/>
              </a:rPr>
              <a:t> Popular among Nepali startups and IT companies</a:t>
            </a:r>
          </a:p>
          <a:p>
            <a:pPr marL="0" indent="0">
              <a:buNone/>
            </a:pPr>
            <a:endParaRPr lang="en-US" dirty="0"/>
          </a:p>
        </p:txBody>
      </p:sp>
    </p:spTree>
    <p:extLst>
      <p:ext uri="{BB962C8B-B14F-4D97-AF65-F5344CB8AC3E}">
        <p14:creationId xmlns:p14="http://schemas.microsoft.com/office/powerpoint/2010/main" val="3652638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A9805-ABDD-73DF-802A-9C23007118C1}"/>
              </a:ext>
            </a:extLst>
          </p:cNvPr>
          <p:cNvSpPr>
            <a:spLocks noGrp="1"/>
          </p:cNvSpPr>
          <p:nvPr>
            <p:ph type="title"/>
          </p:nvPr>
        </p:nvSpPr>
        <p:spPr/>
        <p:txBody>
          <a:bodyPr/>
          <a:lstStyle/>
          <a:p>
            <a:r>
              <a:rPr lang="en-US" dirty="0"/>
              <a:t>Microsoft Azure</a:t>
            </a:r>
          </a:p>
        </p:txBody>
      </p:sp>
      <p:sp>
        <p:nvSpPr>
          <p:cNvPr id="3" name="Content Placeholder 2">
            <a:extLst>
              <a:ext uri="{FF2B5EF4-FFF2-40B4-BE49-F238E27FC236}">
                <a16:creationId xmlns:a16="http://schemas.microsoft.com/office/drawing/2014/main" id="{7F3FDAD2-2117-912D-E8AC-45DFD4015C66}"/>
              </a:ext>
            </a:extLst>
          </p:cNvPr>
          <p:cNvSpPr>
            <a:spLocks noGrp="1"/>
          </p:cNvSpPr>
          <p:nvPr>
            <p:ph idx="1"/>
          </p:nvPr>
        </p:nvSpPr>
        <p:spPr/>
        <p:txBody>
          <a:bodyPr>
            <a:normAutofit fontScale="92500" lnSpcReduction="20000"/>
          </a:bodyPr>
          <a:lstStyle/>
          <a:p>
            <a:pPr>
              <a:spcBef>
                <a:spcPts val="900"/>
              </a:spcBef>
              <a:buNone/>
            </a:pPr>
            <a:r>
              <a:rPr lang="en-US" b="1" dirty="0">
                <a:solidFill>
                  <a:srgbClr val="000000"/>
                </a:solidFill>
                <a:effectLst/>
              </a:rPr>
              <a:t>Founded:</a:t>
            </a:r>
            <a:r>
              <a:rPr lang="en-US" dirty="0">
                <a:solidFill>
                  <a:srgbClr val="000000"/>
                </a:solidFill>
                <a:effectLst/>
              </a:rPr>
              <a:t> 2010</a:t>
            </a:r>
          </a:p>
          <a:p>
            <a:pPr>
              <a:spcBef>
                <a:spcPts val="900"/>
              </a:spcBef>
              <a:buNone/>
            </a:pPr>
            <a:r>
              <a:rPr lang="en-US" b="1" dirty="0">
                <a:solidFill>
                  <a:srgbClr val="000000"/>
                </a:solidFill>
                <a:effectLst/>
              </a:rPr>
              <a:t>Key Services:</a:t>
            </a:r>
            <a:endParaRPr lang="en-US" dirty="0">
              <a:solidFill>
                <a:srgbClr val="000000"/>
              </a:solidFill>
              <a:effectLst/>
            </a:endParaRPr>
          </a:p>
          <a:p>
            <a:pPr>
              <a:spcBef>
                <a:spcPts val="600"/>
              </a:spcBef>
              <a:buFont typeface="Arial" panose="020B0604020202020204" pitchFamily="34" charset="0"/>
              <a:buChar char="•"/>
            </a:pPr>
            <a:r>
              <a:rPr lang="en-US" b="1" dirty="0">
                <a:solidFill>
                  <a:srgbClr val="000000"/>
                </a:solidFill>
                <a:effectLst/>
              </a:rPr>
              <a:t>Compute:</a:t>
            </a:r>
            <a:r>
              <a:rPr lang="en-US" dirty="0">
                <a:solidFill>
                  <a:srgbClr val="000000"/>
                </a:solidFill>
                <a:effectLst/>
              </a:rPr>
              <a:t> Virtual Machines, Azure Functions</a:t>
            </a:r>
          </a:p>
          <a:p>
            <a:pPr>
              <a:spcBef>
                <a:spcPts val="600"/>
              </a:spcBef>
              <a:buFont typeface="Arial" panose="020B0604020202020204" pitchFamily="34" charset="0"/>
              <a:buChar char="•"/>
            </a:pPr>
            <a:r>
              <a:rPr lang="en-US" b="1" dirty="0">
                <a:solidFill>
                  <a:srgbClr val="000000"/>
                </a:solidFill>
                <a:effectLst/>
              </a:rPr>
              <a:t>Storage:</a:t>
            </a:r>
            <a:r>
              <a:rPr lang="en-US" dirty="0">
                <a:solidFill>
                  <a:srgbClr val="000000"/>
                </a:solidFill>
                <a:effectLst/>
              </a:rPr>
              <a:t> Blob Storage, Azure Files</a:t>
            </a:r>
          </a:p>
          <a:p>
            <a:pPr>
              <a:spcBef>
                <a:spcPts val="600"/>
              </a:spcBef>
              <a:buFont typeface="Arial" panose="020B0604020202020204" pitchFamily="34" charset="0"/>
              <a:buChar char="•"/>
            </a:pPr>
            <a:r>
              <a:rPr lang="en-US" b="1" dirty="0">
                <a:solidFill>
                  <a:srgbClr val="000000"/>
                </a:solidFill>
                <a:effectLst/>
              </a:rPr>
              <a:t>Database:</a:t>
            </a:r>
            <a:r>
              <a:rPr lang="en-US" dirty="0">
                <a:solidFill>
                  <a:srgbClr val="000000"/>
                </a:solidFill>
                <a:effectLst/>
              </a:rPr>
              <a:t> Azure SQL, Cosmos DB</a:t>
            </a:r>
          </a:p>
          <a:p>
            <a:pPr>
              <a:spcBef>
                <a:spcPts val="600"/>
              </a:spcBef>
              <a:buFont typeface="Arial" panose="020B0604020202020204" pitchFamily="34" charset="0"/>
              <a:buChar char="•"/>
            </a:pPr>
            <a:r>
              <a:rPr lang="en-US" b="1" dirty="0">
                <a:solidFill>
                  <a:srgbClr val="000000"/>
                </a:solidFill>
                <a:effectLst/>
              </a:rPr>
              <a:t>AI/ML:</a:t>
            </a:r>
            <a:r>
              <a:rPr lang="en-US" dirty="0">
                <a:solidFill>
                  <a:srgbClr val="000000"/>
                </a:solidFill>
                <a:effectLst/>
              </a:rPr>
              <a:t> Azure Machine Learning, Cognitive Services</a:t>
            </a:r>
          </a:p>
          <a:p>
            <a:pPr>
              <a:spcBef>
                <a:spcPts val="1200"/>
              </a:spcBef>
              <a:buNone/>
            </a:pPr>
            <a:r>
              <a:rPr lang="en-US" b="1" dirty="0">
                <a:solidFill>
                  <a:srgbClr val="000000"/>
                </a:solidFill>
                <a:effectLst/>
              </a:rPr>
              <a:t>Strengths:</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Excellent integration with Microsoft products (Windows, Office 365)</a:t>
            </a:r>
          </a:p>
          <a:p>
            <a:pPr>
              <a:spcBef>
                <a:spcPts val="600"/>
              </a:spcBef>
              <a:buFont typeface="Arial" panose="020B0604020202020204" pitchFamily="34" charset="0"/>
              <a:buChar char="•"/>
            </a:pPr>
            <a:r>
              <a:rPr lang="en-US" dirty="0">
                <a:solidFill>
                  <a:srgbClr val="000000"/>
                </a:solidFill>
                <a:effectLst/>
              </a:rPr>
              <a:t>Strong enterprise adoption</a:t>
            </a:r>
          </a:p>
          <a:p>
            <a:pPr>
              <a:spcBef>
                <a:spcPts val="600"/>
              </a:spcBef>
              <a:buFont typeface="Arial" panose="020B0604020202020204" pitchFamily="34" charset="0"/>
              <a:buChar char="•"/>
            </a:pPr>
            <a:r>
              <a:rPr lang="en-US" dirty="0">
                <a:solidFill>
                  <a:srgbClr val="000000"/>
                </a:solidFill>
                <a:effectLst/>
              </a:rPr>
              <a:t>Hybrid cloud capabilities</a:t>
            </a:r>
          </a:p>
          <a:p>
            <a:pPr>
              <a:spcBef>
                <a:spcPts val="600"/>
              </a:spcBef>
              <a:buFont typeface="Arial" panose="020B0604020202020204" pitchFamily="34" charset="0"/>
              <a:buChar char="•"/>
            </a:pPr>
            <a:r>
              <a:rPr lang="en-US" dirty="0">
                <a:solidFill>
                  <a:srgbClr val="000000"/>
                </a:solidFill>
                <a:effectLst/>
              </a:rPr>
              <a:t>Active Directory integration</a:t>
            </a:r>
          </a:p>
          <a:p>
            <a:pPr>
              <a:spcBef>
                <a:spcPts val="1200"/>
              </a:spcBef>
              <a:buNone/>
            </a:pPr>
            <a:r>
              <a:rPr lang="en-US" b="1" dirty="0">
                <a:solidFill>
                  <a:srgbClr val="000000"/>
                </a:solidFill>
                <a:effectLst/>
              </a:rPr>
              <a:t>Nepal Context:</a:t>
            </a:r>
            <a:r>
              <a:rPr lang="en-US" dirty="0">
                <a:solidFill>
                  <a:srgbClr val="000000"/>
                </a:solidFill>
                <a:effectLst/>
              </a:rPr>
              <a:t> Preferred by organizations using Microsoft ecosystem</a:t>
            </a:r>
          </a:p>
          <a:p>
            <a:pPr marL="0" indent="0">
              <a:buNone/>
            </a:pPr>
            <a:endParaRPr lang="en-US" dirty="0"/>
          </a:p>
        </p:txBody>
      </p:sp>
    </p:spTree>
    <p:extLst>
      <p:ext uri="{BB962C8B-B14F-4D97-AF65-F5344CB8AC3E}">
        <p14:creationId xmlns:p14="http://schemas.microsoft.com/office/powerpoint/2010/main" val="2884259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FF75E-E0D8-3AB4-73E7-6F3D4A7C3E34}"/>
              </a:ext>
            </a:extLst>
          </p:cNvPr>
          <p:cNvSpPr>
            <a:spLocks noGrp="1"/>
          </p:cNvSpPr>
          <p:nvPr>
            <p:ph type="title"/>
          </p:nvPr>
        </p:nvSpPr>
        <p:spPr/>
        <p:txBody>
          <a:bodyPr/>
          <a:lstStyle/>
          <a:p>
            <a:r>
              <a:rPr lang="en-US" dirty="0"/>
              <a:t>	Google Cloud Platform</a:t>
            </a:r>
          </a:p>
        </p:txBody>
      </p:sp>
      <p:sp>
        <p:nvSpPr>
          <p:cNvPr id="3" name="Content Placeholder 2">
            <a:extLst>
              <a:ext uri="{FF2B5EF4-FFF2-40B4-BE49-F238E27FC236}">
                <a16:creationId xmlns:a16="http://schemas.microsoft.com/office/drawing/2014/main" id="{CD0CA4F5-00CF-E236-5B6F-964192C59FC6}"/>
              </a:ext>
            </a:extLst>
          </p:cNvPr>
          <p:cNvSpPr>
            <a:spLocks noGrp="1"/>
          </p:cNvSpPr>
          <p:nvPr>
            <p:ph idx="1"/>
          </p:nvPr>
        </p:nvSpPr>
        <p:spPr/>
        <p:txBody>
          <a:bodyPr>
            <a:normAutofit fontScale="92500" lnSpcReduction="20000"/>
          </a:bodyPr>
          <a:lstStyle/>
          <a:p>
            <a:pPr>
              <a:spcBef>
                <a:spcPts val="900"/>
              </a:spcBef>
              <a:buNone/>
            </a:pPr>
            <a:r>
              <a:rPr lang="en-US" b="1" dirty="0">
                <a:solidFill>
                  <a:srgbClr val="000000"/>
                </a:solidFill>
                <a:effectLst/>
              </a:rPr>
              <a:t>Founded:</a:t>
            </a:r>
            <a:r>
              <a:rPr lang="en-US" dirty="0">
                <a:solidFill>
                  <a:srgbClr val="000000"/>
                </a:solidFill>
                <a:effectLst/>
              </a:rPr>
              <a:t> 2008</a:t>
            </a:r>
          </a:p>
          <a:p>
            <a:pPr>
              <a:spcBef>
                <a:spcPts val="900"/>
              </a:spcBef>
              <a:buNone/>
            </a:pPr>
            <a:r>
              <a:rPr lang="en-US" b="1" dirty="0">
                <a:solidFill>
                  <a:srgbClr val="000000"/>
                </a:solidFill>
                <a:effectLst/>
              </a:rPr>
              <a:t>Key Services:</a:t>
            </a:r>
            <a:endParaRPr lang="en-US" dirty="0">
              <a:solidFill>
                <a:srgbClr val="000000"/>
              </a:solidFill>
              <a:effectLst/>
            </a:endParaRPr>
          </a:p>
          <a:p>
            <a:pPr>
              <a:spcBef>
                <a:spcPts val="600"/>
              </a:spcBef>
              <a:buFont typeface="Arial" panose="020B0604020202020204" pitchFamily="34" charset="0"/>
              <a:buChar char="•"/>
            </a:pPr>
            <a:r>
              <a:rPr lang="en-US" b="1" dirty="0">
                <a:solidFill>
                  <a:srgbClr val="000000"/>
                </a:solidFill>
                <a:effectLst/>
              </a:rPr>
              <a:t>Compute:</a:t>
            </a:r>
            <a:r>
              <a:rPr lang="en-US" dirty="0">
                <a:solidFill>
                  <a:srgbClr val="000000"/>
                </a:solidFill>
                <a:effectLst/>
              </a:rPr>
              <a:t> Compute Engine, Cloud Functions</a:t>
            </a:r>
          </a:p>
          <a:p>
            <a:pPr>
              <a:spcBef>
                <a:spcPts val="600"/>
              </a:spcBef>
              <a:buFont typeface="Arial" panose="020B0604020202020204" pitchFamily="34" charset="0"/>
              <a:buChar char="•"/>
            </a:pPr>
            <a:r>
              <a:rPr lang="en-US" b="1" dirty="0">
                <a:solidFill>
                  <a:srgbClr val="000000"/>
                </a:solidFill>
                <a:effectLst/>
              </a:rPr>
              <a:t>Storage:</a:t>
            </a:r>
            <a:r>
              <a:rPr lang="en-US" dirty="0">
                <a:solidFill>
                  <a:srgbClr val="000000"/>
                </a:solidFill>
                <a:effectLst/>
              </a:rPr>
              <a:t> Cloud Storage, Persistent Disks</a:t>
            </a:r>
          </a:p>
          <a:p>
            <a:pPr>
              <a:spcBef>
                <a:spcPts val="600"/>
              </a:spcBef>
              <a:buFont typeface="Arial" panose="020B0604020202020204" pitchFamily="34" charset="0"/>
              <a:buChar char="•"/>
            </a:pPr>
            <a:r>
              <a:rPr lang="en-US" b="1" dirty="0">
                <a:solidFill>
                  <a:srgbClr val="000000"/>
                </a:solidFill>
                <a:effectLst/>
              </a:rPr>
              <a:t>Database:</a:t>
            </a:r>
            <a:r>
              <a:rPr lang="en-US" dirty="0">
                <a:solidFill>
                  <a:srgbClr val="000000"/>
                </a:solidFill>
                <a:effectLst/>
              </a:rPr>
              <a:t> Cloud SQL, </a:t>
            </a:r>
            <a:r>
              <a:rPr lang="en-US" dirty="0" err="1">
                <a:solidFill>
                  <a:srgbClr val="000000"/>
                </a:solidFill>
                <a:effectLst/>
              </a:rPr>
              <a:t>Firestore</a:t>
            </a:r>
            <a:endParaRPr lang="en-US" dirty="0">
              <a:solidFill>
                <a:srgbClr val="000000"/>
              </a:solidFill>
              <a:effectLst/>
            </a:endParaRPr>
          </a:p>
          <a:p>
            <a:pPr>
              <a:spcBef>
                <a:spcPts val="600"/>
              </a:spcBef>
              <a:buFont typeface="Arial" panose="020B0604020202020204" pitchFamily="34" charset="0"/>
              <a:buChar char="•"/>
            </a:pPr>
            <a:r>
              <a:rPr lang="en-US" b="1" dirty="0">
                <a:solidFill>
                  <a:srgbClr val="000000"/>
                </a:solidFill>
                <a:effectLst/>
              </a:rPr>
              <a:t>AI/ML:</a:t>
            </a:r>
            <a:r>
              <a:rPr lang="en-US" dirty="0">
                <a:solidFill>
                  <a:srgbClr val="000000"/>
                </a:solidFill>
                <a:effectLst/>
              </a:rPr>
              <a:t> Vertex AI, TensorFlow</a:t>
            </a:r>
          </a:p>
          <a:p>
            <a:pPr>
              <a:spcBef>
                <a:spcPts val="1200"/>
              </a:spcBef>
              <a:buNone/>
            </a:pPr>
            <a:r>
              <a:rPr lang="en-US" b="1" dirty="0">
                <a:solidFill>
                  <a:srgbClr val="000000"/>
                </a:solidFill>
                <a:effectLst/>
              </a:rPr>
              <a:t>Strengths:</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Superior data analytics (</a:t>
            </a:r>
            <a:r>
              <a:rPr lang="en-US" dirty="0" err="1">
                <a:solidFill>
                  <a:srgbClr val="000000"/>
                </a:solidFill>
                <a:effectLst/>
              </a:rPr>
              <a:t>BigQuery</a:t>
            </a:r>
            <a:r>
              <a:rPr lang="en-US" dirty="0">
                <a:solidFill>
                  <a:srgbClr val="000000"/>
                </a:solidFill>
                <a:effectLst/>
              </a:rPr>
              <a:t>)</a:t>
            </a:r>
          </a:p>
          <a:p>
            <a:pPr>
              <a:spcBef>
                <a:spcPts val="600"/>
              </a:spcBef>
              <a:buFont typeface="Arial" panose="020B0604020202020204" pitchFamily="34" charset="0"/>
              <a:buChar char="•"/>
            </a:pPr>
            <a:r>
              <a:rPr lang="en-US" dirty="0">
                <a:solidFill>
                  <a:srgbClr val="000000"/>
                </a:solidFill>
                <a:effectLst/>
              </a:rPr>
              <a:t>Leading AI/ML capabilities</a:t>
            </a:r>
          </a:p>
          <a:p>
            <a:pPr>
              <a:spcBef>
                <a:spcPts val="600"/>
              </a:spcBef>
              <a:buFont typeface="Arial" panose="020B0604020202020204" pitchFamily="34" charset="0"/>
              <a:buChar char="•"/>
            </a:pPr>
            <a:r>
              <a:rPr lang="en-US" dirty="0">
                <a:solidFill>
                  <a:srgbClr val="000000"/>
                </a:solidFill>
                <a:effectLst/>
              </a:rPr>
              <a:t>Competitive pricing</a:t>
            </a:r>
          </a:p>
          <a:p>
            <a:pPr>
              <a:spcBef>
                <a:spcPts val="600"/>
              </a:spcBef>
              <a:buFont typeface="Arial" panose="020B0604020202020204" pitchFamily="34" charset="0"/>
              <a:buChar char="•"/>
            </a:pPr>
            <a:r>
              <a:rPr lang="en-US" dirty="0">
                <a:solidFill>
                  <a:srgbClr val="000000"/>
                </a:solidFill>
                <a:effectLst/>
              </a:rPr>
              <a:t>Strong in containerization (Kubernetes)</a:t>
            </a:r>
          </a:p>
          <a:p>
            <a:pPr>
              <a:spcBef>
                <a:spcPts val="1200"/>
              </a:spcBef>
              <a:buNone/>
            </a:pPr>
            <a:r>
              <a:rPr lang="en-US" b="1" dirty="0">
                <a:solidFill>
                  <a:srgbClr val="000000"/>
                </a:solidFill>
                <a:effectLst/>
              </a:rPr>
              <a:t>Nepal Context:</a:t>
            </a:r>
            <a:r>
              <a:rPr lang="en-US" dirty="0">
                <a:solidFill>
                  <a:srgbClr val="000000"/>
                </a:solidFill>
                <a:effectLst/>
              </a:rPr>
              <a:t> Growing adoption, especially for data-intensive applications</a:t>
            </a:r>
          </a:p>
          <a:p>
            <a:pPr marL="0" indent="0">
              <a:buNone/>
            </a:pPr>
            <a:endParaRPr lang="en-US" dirty="0"/>
          </a:p>
        </p:txBody>
      </p:sp>
    </p:spTree>
    <p:extLst>
      <p:ext uri="{BB962C8B-B14F-4D97-AF65-F5344CB8AC3E}">
        <p14:creationId xmlns:p14="http://schemas.microsoft.com/office/powerpoint/2010/main" val="39648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98040-9389-8FEC-0BB0-791CB074A810}"/>
              </a:ext>
            </a:extLst>
          </p:cNvPr>
          <p:cNvSpPr>
            <a:spLocks noGrp="1"/>
          </p:cNvSpPr>
          <p:nvPr>
            <p:ph type="title"/>
          </p:nvPr>
        </p:nvSpPr>
        <p:spPr/>
        <p:txBody>
          <a:bodyPr/>
          <a:lstStyle/>
          <a:p>
            <a:r>
              <a:rPr lang="en-US" dirty="0"/>
              <a:t>Service Provider Comparison</a:t>
            </a:r>
          </a:p>
        </p:txBody>
      </p:sp>
      <p:graphicFrame>
        <p:nvGraphicFramePr>
          <p:cNvPr id="4" name="Content Placeholder 3">
            <a:extLst>
              <a:ext uri="{FF2B5EF4-FFF2-40B4-BE49-F238E27FC236}">
                <a16:creationId xmlns:a16="http://schemas.microsoft.com/office/drawing/2014/main" id="{2BA4611C-C649-D918-475C-E46D56CB5531}"/>
              </a:ext>
            </a:extLst>
          </p:cNvPr>
          <p:cNvGraphicFramePr>
            <a:graphicFrameLocks noGrp="1"/>
          </p:cNvGraphicFramePr>
          <p:nvPr>
            <p:ph idx="1"/>
            <p:extLst>
              <p:ext uri="{D42A27DB-BD31-4B8C-83A1-F6EECF244321}">
                <p14:modId xmlns:p14="http://schemas.microsoft.com/office/powerpoint/2010/main" val="2036652004"/>
              </p:ext>
            </p:extLst>
          </p:nvPr>
        </p:nvGraphicFramePr>
        <p:xfrm>
          <a:off x="679269" y="1907177"/>
          <a:ext cx="10674532" cy="3694319"/>
        </p:xfrm>
        <a:graphic>
          <a:graphicData uri="http://schemas.openxmlformats.org/drawingml/2006/table">
            <a:tbl>
              <a:tblPr>
                <a:tableStyleId>{284E427A-3D55-4303-BF80-6455036E1DE7}</a:tableStyleId>
              </a:tblPr>
              <a:tblGrid>
                <a:gridCol w="2668633">
                  <a:extLst>
                    <a:ext uri="{9D8B030D-6E8A-4147-A177-3AD203B41FA5}">
                      <a16:colId xmlns:a16="http://schemas.microsoft.com/office/drawing/2014/main" val="3322520468"/>
                    </a:ext>
                  </a:extLst>
                </a:gridCol>
                <a:gridCol w="2668633">
                  <a:extLst>
                    <a:ext uri="{9D8B030D-6E8A-4147-A177-3AD203B41FA5}">
                      <a16:colId xmlns:a16="http://schemas.microsoft.com/office/drawing/2014/main" val="3141905788"/>
                    </a:ext>
                  </a:extLst>
                </a:gridCol>
                <a:gridCol w="2668633">
                  <a:extLst>
                    <a:ext uri="{9D8B030D-6E8A-4147-A177-3AD203B41FA5}">
                      <a16:colId xmlns:a16="http://schemas.microsoft.com/office/drawing/2014/main" val="3042591487"/>
                    </a:ext>
                  </a:extLst>
                </a:gridCol>
                <a:gridCol w="2668633">
                  <a:extLst>
                    <a:ext uri="{9D8B030D-6E8A-4147-A177-3AD203B41FA5}">
                      <a16:colId xmlns:a16="http://schemas.microsoft.com/office/drawing/2014/main" val="3249351019"/>
                    </a:ext>
                  </a:extLst>
                </a:gridCol>
              </a:tblGrid>
              <a:tr h="422208">
                <a:tc>
                  <a:txBody>
                    <a:bodyPr/>
                    <a:lstStyle/>
                    <a:p>
                      <a:pPr>
                        <a:buNone/>
                      </a:pPr>
                      <a:r>
                        <a:rPr lang="en-US" b="1">
                          <a:solidFill>
                            <a:srgbClr val="000000"/>
                          </a:solidFill>
                          <a:effectLst/>
                        </a:rPr>
                        <a:t>Feature</a:t>
                      </a:r>
                      <a:endParaRPr lang="en-US">
                        <a:solidFill>
                          <a:srgbClr val="000000"/>
                        </a:solidFill>
                        <a:effectLst/>
                      </a:endParaRPr>
                    </a:p>
                  </a:txBody>
                  <a:tcPr anchor="ctr"/>
                </a:tc>
                <a:tc>
                  <a:txBody>
                    <a:bodyPr/>
                    <a:lstStyle/>
                    <a:p>
                      <a:pPr>
                        <a:buNone/>
                      </a:pPr>
                      <a:r>
                        <a:rPr lang="en-US" b="1">
                          <a:solidFill>
                            <a:srgbClr val="000000"/>
                          </a:solidFill>
                          <a:effectLst/>
                        </a:rPr>
                        <a:t>AWS</a:t>
                      </a:r>
                      <a:endParaRPr lang="en-US">
                        <a:solidFill>
                          <a:srgbClr val="000000"/>
                        </a:solidFill>
                        <a:effectLst/>
                      </a:endParaRPr>
                    </a:p>
                  </a:txBody>
                  <a:tcPr anchor="ctr"/>
                </a:tc>
                <a:tc>
                  <a:txBody>
                    <a:bodyPr/>
                    <a:lstStyle/>
                    <a:p>
                      <a:pPr>
                        <a:buNone/>
                      </a:pPr>
                      <a:r>
                        <a:rPr lang="en-US" b="1">
                          <a:solidFill>
                            <a:srgbClr val="000000"/>
                          </a:solidFill>
                          <a:effectLst/>
                        </a:rPr>
                        <a:t>Azure</a:t>
                      </a:r>
                      <a:endParaRPr lang="en-US">
                        <a:solidFill>
                          <a:srgbClr val="000000"/>
                        </a:solidFill>
                        <a:effectLst/>
                      </a:endParaRPr>
                    </a:p>
                  </a:txBody>
                  <a:tcPr anchor="ctr"/>
                </a:tc>
                <a:tc>
                  <a:txBody>
                    <a:bodyPr/>
                    <a:lstStyle/>
                    <a:p>
                      <a:pPr>
                        <a:buNone/>
                      </a:pPr>
                      <a:r>
                        <a:rPr lang="en-US" b="1">
                          <a:solidFill>
                            <a:srgbClr val="000000"/>
                          </a:solidFill>
                          <a:effectLst/>
                        </a:rPr>
                        <a:t>GCP</a:t>
                      </a:r>
                      <a:endParaRPr lang="en-US">
                        <a:solidFill>
                          <a:srgbClr val="000000"/>
                        </a:solidFill>
                        <a:effectLst/>
                      </a:endParaRPr>
                    </a:p>
                  </a:txBody>
                  <a:tcPr anchor="ctr"/>
                </a:tc>
                <a:extLst>
                  <a:ext uri="{0D108BD9-81ED-4DB2-BD59-A6C34878D82A}">
                    <a16:rowId xmlns:a16="http://schemas.microsoft.com/office/drawing/2014/main" val="2115229234"/>
                  </a:ext>
                </a:extLst>
              </a:tr>
              <a:tr h="422208">
                <a:tc>
                  <a:txBody>
                    <a:bodyPr/>
                    <a:lstStyle/>
                    <a:p>
                      <a:pPr>
                        <a:buNone/>
                      </a:pPr>
                      <a:r>
                        <a:rPr lang="en-US" b="1" dirty="0">
                          <a:solidFill>
                            <a:srgbClr val="000000"/>
                          </a:solidFill>
                          <a:effectLst/>
                        </a:rPr>
                        <a:t>Market Position</a:t>
                      </a:r>
                      <a:endParaRPr lang="en-US" dirty="0">
                        <a:solidFill>
                          <a:srgbClr val="000000"/>
                        </a:solidFill>
                        <a:effectLst/>
                      </a:endParaRPr>
                    </a:p>
                  </a:txBody>
                  <a:tcPr anchor="ctr"/>
                </a:tc>
                <a:tc>
                  <a:txBody>
                    <a:bodyPr/>
                    <a:lstStyle/>
                    <a:p>
                      <a:pPr>
                        <a:buNone/>
                      </a:pPr>
                      <a:r>
                        <a:rPr lang="en-US">
                          <a:solidFill>
                            <a:srgbClr val="000000"/>
                          </a:solidFill>
                          <a:effectLst/>
                        </a:rPr>
                        <a:t>Leader</a:t>
                      </a:r>
                    </a:p>
                  </a:txBody>
                  <a:tcPr anchor="ctr"/>
                </a:tc>
                <a:tc>
                  <a:txBody>
                    <a:bodyPr/>
                    <a:lstStyle/>
                    <a:p>
                      <a:pPr>
                        <a:buNone/>
                      </a:pPr>
                      <a:r>
                        <a:rPr lang="en-US">
                          <a:solidFill>
                            <a:srgbClr val="000000"/>
                          </a:solidFill>
                          <a:effectLst/>
                        </a:rPr>
                        <a:t>Strong 2nd</a:t>
                      </a:r>
                    </a:p>
                  </a:txBody>
                  <a:tcPr anchor="ctr"/>
                </a:tc>
                <a:tc>
                  <a:txBody>
                    <a:bodyPr/>
                    <a:lstStyle/>
                    <a:p>
                      <a:pPr>
                        <a:buNone/>
                      </a:pPr>
                      <a:r>
                        <a:rPr lang="en-US">
                          <a:solidFill>
                            <a:srgbClr val="000000"/>
                          </a:solidFill>
                          <a:effectLst/>
                        </a:rPr>
                        <a:t>Growing 3rd</a:t>
                      </a:r>
                    </a:p>
                  </a:txBody>
                  <a:tcPr anchor="ctr"/>
                </a:tc>
                <a:extLst>
                  <a:ext uri="{0D108BD9-81ED-4DB2-BD59-A6C34878D82A}">
                    <a16:rowId xmlns:a16="http://schemas.microsoft.com/office/drawing/2014/main" val="3456224827"/>
                  </a:ext>
                </a:extLst>
              </a:tr>
              <a:tr h="422208">
                <a:tc>
                  <a:txBody>
                    <a:bodyPr/>
                    <a:lstStyle/>
                    <a:p>
                      <a:pPr>
                        <a:buNone/>
                      </a:pPr>
                      <a:r>
                        <a:rPr lang="en-US" b="1">
                          <a:solidFill>
                            <a:srgbClr val="000000"/>
                          </a:solidFill>
                          <a:effectLst/>
                        </a:rPr>
                        <a:t>Service Count</a:t>
                      </a:r>
                      <a:endParaRPr lang="en-US">
                        <a:solidFill>
                          <a:srgbClr val="000000"/>
                        </a:solidFill>
                        <a:effectLst/>
                      </a:endParaRPr>
                    </a:p>
                  </a:txBody>
                  <a:tcPr anchor="ctr"/>
                </a:tc>
                <a:tc>
                  <a:txBody>
                    <a:bodyPr/>
                    <a:lstStyle/>
                    <a:p>
                      <a:pPr>
                        <a:buNone/>
                      </a:pPr>
                      <a:r>
                        <a:rPr lang="en-US">
                          <a:solidFill>
                            <a:srgbClr val="000000"/>
                          </a:solidFill>
                          <a:effectLst/>
                        </a:rPr>
                        <a:t>200+</a:t>
                      </a:r>
                    </a:p>
                  </a:txBody>
                  <a:tcPr anchor="ctr"/>
                </a:tc>
                <a:tc>
                  <a:txBody>
                    <a:bodyPr/>
                    <a:lstStyle/>
                    <a:p>
                      <a:pPr>
                        <a:buNone/>
                      </a:pPr>
                      <a:r>
                        <a:rPr lang="en-US">
                          <a:solidFill>
                            <a:srgbClr val="000000"/>
                          </a:solidFill>
                          <a:effectLst/>
                        </a:rPr>
                        <a:t>200+</a:t>
                      </a:r>
                    </a:p>
                  </a:txBody>
                  <a:tcPr anchor="ctr"/>
                </a:tc>
                <a:tc>
                  <a:txBody>
                    <a:bodyPr/>
                    <a:lstStyle/>
                    <a:p>
                      <a:pPr>
                        <a:buNone/>
                      </a:pPr>
                      <a:r>
                        <a:rPr lang="en-US">
                          <a:solidFill>
                            <a:srgbClr val="000000"/>
                          </a:solidFill>
                          <a:effectLst/>
                        </a:rPr>
                        <a:t>100+</a:t>
                      </a:r>
                    </a:p>
                  </a:txBody>
                  <a:tcPr anchor="ctr"/>
                </a:tc>
                <a:extLst>
                  <a:ext uri="{0D108BD9-81ED-4DB2-BD59-A6C34878D82A}">
                    <a16:rowId xmlns:a16="http://schemas.microsoft.com/office/drawing/2014/main" val="308533227"/>
                  </a:ext>
                </a:extLst>
              </a:tr>
              <a:tr h="738863">
                <a:tc>
                  <a:txBody>
                    <a:bodyPr/>
                    <a:lstStyle/>
                    <a:p>
                      <a:pPr>
                        <a:buNone/>
                      </a:pPr>
                      <a:r>
                        <a:rPr lang="en-US" b="1">
                          <a:solidFill>
                            <a:srgbClr val="000000"/>
                          </a:solidFill>
                          <a:effectLst/>
                        </a:rPr>
                        <a:t>Best For</a:t>
                      </a:r>
                      <a:endParaRPr lang="en-US">
                        <a:solidFill>
                          <a:srgbClr val="000000"/>
                        </a:solidFill>
                        <a:effectLst/>
                      </a:endParaRPr>
                    </a:p>
                  </a:txBody>
                  <a:tcPr anchor="ctr"/>
                </a:tc>
                <a:tc>
                  <a:txBody>
                    <a:bodyPr/>
                    <a:lstStyle/>
                    <a:p>
                      <a:pPr>
                        <a:buNone/>
                      </a:pPr>
                      <a:r>
                        <a:rPr lang="en-US">
                          <a:solidFill>
                            <a:srgbClr val="000000"/>
                          </a:solidFill>
                          <a:effectLst/>
                        </a:rPr>
                        <a:t>Startups, Flexibility</a:t>
                      </a:r>
                    </a:p>
                  </a:txBody>
                  <a:tcPr anchor="ctr"/>
                </a:tc>
                <a:tc>
                  <a:txBody>
                    <a:bodyPr/>
                    <a:lstStyle/>
                    <a:p>
                      <a:pPr>
                        <a:buNone/>
                      </a:pPr>
                      <a:r>
                        <a:rPr lang="en-US">
                          <a:solidFill>
                            <a:srgbClr val="000000"/>
                          </a:solidFill>
                          <a:effectLst/>
                        </a:rPr>
                        <a:t>Enterprises, Microsoft shops</a:t>
                      </a:r>
                    </a:p>
                  </a:txBody>
                  <a:tcPr anchor="ctr"/>
                </a:tc>
                <a:tc>
                  <a:txBody>
                    <a:bodyPr/>
                    <a:lstStyle/>
                    <a:p>
                      <a:pPr>
                        <a:buNone/>
                      </a:pPr>
                      <a:r>
                        <a:rPr lang="en-US">
                          <a:solidFill>
                            <a:srgbClr val="000000"/>
                          </a:solidFill>
                          <a:effectLst/>
                        </a:rPr>
                        <a:t>Data Analytics, AI/ML</a:t>
                      </a:r>
                    </a:p>
                  </a:txBody>
                  <a:tcPr anchor="ctr"/>
                </a:tc>
                <a:extLst>
                  <a:ext uri="{0D108BD9-81ED-4DB2-BD59-A6C34878D82A}">
                    <a16:rowId xmlns:a16="http://schemas.microsoft.com/office/drawing/2014/main" val="4129471833"/>
                  </a:ext>
                </a:extLst>
              </a:tr>
              <a:tr h="422208">
                <a:tc>
                  <a:txBody>
                    <a:bodyPr/>
                    <a:lstStyle/>
                    <a:p>
                      <a:pPr>
                        <a:buNone/>
                      </a:pPr>
                      <a:r>
                        <a:rPr lang="en-US" b="1">
                          <a:solidFill>
                            <a:srgbClr val="000000"/>
                          </a:solidFill>
                          <a:effectLst/>
                        </a:rPr>
                        <a:t>Pricing</a:t>
                      </a:r>
                      <a:endParaRPr lang="en-US">
                        <a:solidFill>
                          <a:srgbClr val="000000"/>
                        </a:solidFill>
                        <a:effectLst/>
                      </a:endParaRPr>
                    </a:p>
                  </a:txBody>
                  <a:tcPr anchor="ctr"/>
                </a:tc>
                <a:tc>
                  <a:txBody>
                    <a:bodyPr/>
                    <a:lstStyle/>
                    <a:p>
                      <a:pPr>
                        <a:buNone/>
                      </a:pPr>
                      <a:r>
                        <a:rPr lang="en-US">
                          <a:solidFill>
                            <a:srgbClr val="000000"/>
                          </a:solidFill>
                          <a:effectLst/>
                        </a:rPr>
                        <a:t>Complex</a:t>
                      </a:r>
                    </a:p>
                  </a:txBody>
                  <a:tcPr anchor="ctr"/>
                </a:tc>
                <a:tc>
                  <a:txBody>
                    <a:bodyPr/>
                    <a:lstStyle/>
                    <a:p>
                      <a:pPr>
                        <a:buNone/>
                      </a:pPr>
                      <a:r>
                        <a:rPr lang="en-US">
                          <a:solidFill>
                            <a:srgbClr val="000000"/>
                          </a:solidFill>
                          <a:effectLst/>
                        </a:rPr>
                        <a:t>Moderate</a:t>
                      </a:r>
                    </a:p>
                  </a:txBody>
                  <a:tcPr anchor="ctr"/>
                </a:tc>
                <a:tc>
                  <a:txBody>
                    <a:bodyPr/>
                    <a:lstStyle/>
                    <a:p>
                      <a:pPr>
                        <a:buNone/>
                      </a:pPr>
                      <a:r>
                        <a:rPr lang="en-US">
                          <a:solidFill>
                            <a:srgbClr val="000000"/>
                          </a:solidFill>
                          <a:effectLst/>
                        </a:rPr>
                        <a:t>Competitive</a:t>
                      </a:r>
                    </a:p>
                  </a:txBody>
                  <a:tcPr anchor="ctr"/>
                </a:tc>
                <a:extLst>
                  <a:ext uri="{0D108BD9-81ED-4DB2-BD59-A6C34878D82A}">
                    <a16:rowId xmlns:a16="http://schemas.microsoft.com/office/drawing/2014/main" val="2423225023"/>
                  </a:ext>
                </a:extLst>
              </a:tr>
              <a:tr h="422208">
                <a:tc>
                  <a:txBody>
                    <a:bodyPr/>
                    <a:lstStyle/>
                    <a:p>
                      <a:pPr>
                        <a:buNone/>
                      </a:pPr>
                      <a:r>
                        <a:rPr lang="en-US" b="1" dirty="0">
                          <a:solidFill>
                            <a:srgbClr val="000000"/>
                          </a:solidFill>
                          <a:effectLst/>
                        </a:rPr>
                        <a:t>Learning Curve</a:t>
                      </a:r>
                      <a:endParaRPr lang="en-US" dirty="0">
                        <a:solidFill>
                          <a:srgbClr val="000000"/>
                        </a:solidFill>
                        <a:effectLst/>
                      </a:endParaRPr>
                    </a:p>
                  </a:txBody>
                  <a:tcPr anchor="ctr"/>
                </a:tc>
                <a:tc>
                  <a:txBody>
                    <a:bodyPr/>
                    <a:lstStyle/>
                    <a:p>
                      <a:pPr>
                        <a:buNone/>
                      </a:pPr>
                      <a:r>
                        <a:rPr lang="en-US">
                          <a:solidFill>
                            <a:srgbClr val="000000"/>
                          </a:solidFill>
                          <a:effectLst/>
                        </a:rPr>
                        <a:t>Steep</a:t>
                      </a:r>
                    </a:p>
                  </a:txBody>
                  <a:tcPr anchor="ctr"/>
                </a:tc>
                <a:tc>
                  <a:txBody>
                    <a:bodyPr/>
                    <a:lstStyle/>
                    <a:p>
                      <a:pPr>
                        <a:buNone/>
                      </a:pPr>
                      <a:r>
                        <a:rPr lang="en-US">
                          <a:solidFill>
                            <a:srgbClr val="000000"/>
                          </a:solidFill>
                          <a:effectLst/>
                        </a:rPr>
                        <a:t>Moderate</a:t>
                      </a:r>
                    </a:p>
                  </a:txBody>
                  <a:tcPr anchor="ctr"/>
                </a:tc>
                <a:tc>
                  <a:txBody>
                    <a:bodyPr/>
                    <a:lstStyle/>
                    <a:p>
                      <a:pPr>
                        <a:buNone/>
                      </a:pPr>
                      <a:r>
                        <a:rPr lang="en-US">
                          <a:solidFill>
                            <a:srgbClr val="000000"/>
                          </a:solidFill>
                          <a:effectLst/>
                        </a:rPr>
                        <a:t>Moderate</a:t>
                      </a:r>
                    </a:p>
                  </a:txBody>
                  <a:tcPr anchor="ctr"/>
                </a:tc>
                <a:extLst>
                  <a:ext uri="{0D108BD9-81ED-4DB2-BD59-A6C34878D82A}">
                    <a16:rowId xmlns:a16="http://schemas.microsoft.com/office/drawing/2014/main" val="59352738"/>
                  </a:ext>
                </a:extLst>
              </a:tr>
              <a:tr h="422208">
                <a:tc>
                  <a:txBody>
                    <a:bodyPr/>
                    <a:lstStyle/>
                    <a:p>
                      <a:pPr>
                        <a:buNone/>
                      </a:pPr>
                      <a:r>
                        <a:rPr lang="en-US" b="1">
                          <a:solidFill>
                            <a:srgbClr val="000000"/>
                          </a:solidFill>
                          <a:effectLst/>
                        </a:rPr>
                        <a:t>Free Tier</a:t>
                      </a:r>
                      <a:endParaRPr lang="en-US">
                        <a:solidFill>
                          <a:srgbClr val="000000"/>
                        </a:solidFill>
                        <a:effectLst/>
                      </a:endParaRPr>
                    </a:p>
                  </a:txBody>
                  <a:tcPr anchor="ctr"/>
                </a:tc>
                <a:tc>
                  <a:txBody>
                    <a:bodyPr/>
                    <a:lstStyle/>
                    <a:p>
                      <a:pPr>
                        <a:buNone/>
                      </a:pPr>
                      <a:r>
                        <a:rPr lang="en-US">
                          <a:solidFill>
                            <a:srgbClr val="000000"/>
                          </a:solidFill>
                          <a:effectLst/>
                        </a:rPr>
                        <a:t>12 months</a:t>
                      </a:r>
                    </a:p>
                  </a:txBody>
                  <a:tcPr anchor="ctr"/>
                </a:tc>
                <a:tc>
                  <a:txBody>
                    <a:bodyPr/>
                    <a:lstStyle/>
                    <a:p>
                      <a:pPr>
                        <a:buNone/>
                      </a:pPr>
                      <a:r>
                        <a:rPr lang="en-US">
                          <a:solidFill>
                            <a:srgbClr val="000000"/>
                          </a:solidFill>
                          <a:effectLst/>
                        </a:rPr>
                        <a:t>12 months</a:t>
                      </a:r>
                    </a:p>
                  </a:txBody>
                  <a:tcPr anchor="ctr"/>
                </a:tc>
                <a:tc>
                  <a:txBody>
                    <a:bodyPr/>
                    <a:lstStyle/>
                    <a:p>
                      <a:pPr>
                        <a:buNone/>
                      </a:pPr>
                      <a:r>
                        <a:rPr lang="en-US">
                          <a:solidFill>
                            <a:srgbClr val="000000"/>
                          </a:solidFill>
                          <a:effectLst/>
                        </a:rPr>
                        <a:t>90 days/$300 credit</a:t>
                      </a:r>
                    </a:p>
                  </a:txBody>
                  <a:tcPr anchor="ctr"/>
                </a:tc>
                <a:extLst>
                  <a:ext uri="{0D108BD9-81ED-4DB2-BD59-A6C34878D82A}">
                    <a16:rowId xmlns:a16="http://schemas.microsoft.com/office/drawing/2014/main" val="1998831948"/>
                  </a:ext>
                </a:extLst>
              </a:tr>
              <a:tr h="422208">
                <a:tc>
                  <a:txBody>
                    <a:bodyPr/>
                    <a:lstStyle/>
                    <a:p>
                      <a:pPr>
                        <a:buNone/>
                      </a:pPr>
                      <a:r>
                        <a:rPr lang="en-US" b="1">
                          <a:solidFill>
                            <a:srgbClr val="000000"/>
                          </a:solidFill>
                          <a:effectLst/>
                        </a:rPr>
                        <a:t>Nepal Availability</a:t>
                      </a:r>
                      <a:endParaRPr lang="en-US">
                        <a:solidFill>
                          <a:srgbClr val="000000"/>
                        </a:solidFill>
                        <a:effectLst/>
                      </a:endParaRPr>
                    </a:p>
                  </a:txBody>
                  <a:tcPr anchor="ctr"/>
                </a:tc>
                <a:tc>
                  <a:txBody>
                    <a:bodyPr/>
                    <a:lstStyle/>
                    <a:p>
                      <a:pPr>
                        <a:buNone/>
                      </a:pPr>
                      <a:r>
                        <a:rPr lang="en-US">
                          <a:solidFill>
                            <a:srgbClr val="000000"/>
                          </a:solidFill>
                          <a:effectLst/>
                        </a:rPr>
                        <a:t>Via partners</a:t>
                      </a:r>
                    </a:p>
                  </a:txBody>
                  <a:tcPr anchor="ctr"/>
                </a:tc>
                <a:tc>
                  <a:txBody>
                    <a:bodyPr/>
                    <a:lstStyle/>
                    <a:p>
                      <a:pPr>
                        <a:buNone/>
                      </a:pPr>
                      <a:r>
                        <a:rPr lang="en-US">
                          <a:solidFill>
                            <a:srgbClr val="000000"/>
                          </a:solidFill>
                          <a:effectLst/>
                        </a:rPr>
                        <a:t>Via partners</a:t>
                      </a:r>
                    </a:p>
                  </a:txBody>
                  <a:tcPr anchor="ctr"/>
                </a:tc>
                <a:tc>
                  <a:txBody>
                    <a:bodyPr/>
                    <a:lstStyle/>
                    <a:p>
                      <a:pPr>
                        <a:buNone/>
                      </a:pPr>
                      <a:r>
                        <a:rPr lang="en-US" dirty="0">
                          <a:solidFill>
                            <a:srgbClr val="000000"/>
                          </a:solidFill>
                          <a:effectLst/>
                        </a:rPr>
                        <a:t>Via partners</a:t>
                      </a:r>
                    </a:p>
                  </a:txBody>
                  <a:tcPr anchor="ctr"/>
                </a:tc>
                <a:extLst>
                  <a:ext uri="{0D108BD9-81ED-4DB2-BD59-A6C34878D82A}">
                    <a16:rowId xmlns:a16="http://schemas.microsoft.com/office/drawing/2014/main" val="2272927793"/>
                  </a:ext>
                </a:extLst>
              </a:tr>
            </a:tbl>
          </a:graphicData>
        </a:graphic>
      </p:graphicFrame>
    </p:spTree>
    <p:extLst>
      <p:ext uri="{BB962C8B-B14F-4D97-AF65-F5344CB8AC3E}">
        <p14:creationId xmlns:p14="http://schemas.microsoft.com/office/powerpoint/2010/main" val="231173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B3EE0-39CB-F464-C75E-EC72759E9B88}"/>
              </a:ext>
            </a:extLst>
          </p:cNvPr>
          <p:cNvSpPr>
            <a:spLocks noGrp="1"/>
          </p:cNvSpPr>
          <p:nvPr>
            <p:ph type="title"/>
          </p:nvPr>
        </p:nvSpPr>
        <p:spPr/>
        <p:txBody>
          <a:bodyPr/>
          <a:lstStyle/>
          <a:p>
            <a:r>
              <a:rPr lang="en-US" dirty="0"/>
              <a:t>Other Notable Providers</a:t>
            </a:r>
          </a:p>
        </p:txBody>
      </p:sp>
      <p:sp>
        <p:nvSpPr>
          <p:cNvPr id="3" name="Content Placeholder 2">
            <a:extLst>
              <a:ext uri="{FF2B5EF4-FFF2-40B4-BE49-F238E27FC236}">
                <a16:creationId xmlns:a16="http://schemas.microsoft.com/office/drawing/2014/main" id="{DD5C54A4-4D5A-B8D4-D653-A705BCC936C2}"/>
              </a:ext>
            </a:extLst>
          </p:cNvPr>
          <p:cNvSpPr>
            <a:spLocks noGrp="1"/>
          </p:cNvSpPr>
          <p:nvPr>
            <p:ph idx="1"/>
          </p:nvPr>
        </p:nvSpPr>
        <p:spPr/>
        <p:txBody>
          <a:bodyPr>
            <a:normAutofit fontScale="85000" lnSpcReduction="20000"/>
          </a:bodyPr>
          <a:lstStyle/>
          <a:p>
            <a:pPr>
              <a:spcBef>
                <a:spcPts val="900"/>
              </a:spcBef>
              <a:buNone/>
            </a:pPr>
            <a:r>
              <a:rPr lang="en-US" b="1" dirty="0">
                <a:solidFill>
                  <a:srgbClr val="000000"/>
                </a:solidFill>
                <a:effectLst/>
              </a:rPr>
              <a:t>IBM Cloud</a:t>
            </a:r>
          </a:p>
          <a:p>
            <a:pPr>
              <a:spcBef>
                <a:spcPts val="600"/>
              </a:spcBef>
              <a:buFont typeface="Arial" panose="020B0604020202020204" pitchFamily="34" charset="0"/>
              <a:buChar char="•"/>
            </a:pPr>
            <a:r>
              <a:rPr lang="en-US" dirty="0">
                <a:solidFill>
                  <a:srgbClr val="000000"/>
                </a:solidFill>
                <a:effectLst/>
              </a:rPr>
              <a:t>Strong in enterprise and hybrid cloud</a:t>
            </a:r>
          </a:p>
          <a:p>
            <a:pPr>
              <a:spcBef>
                <a:spcPts val="600"/>
              </a:spcBef>
              <a:buFont typeface="Arial" panose="020B0604020202020204" pitchFamily="34" charset="0"/>
              <a:buChar char="•"/>
            </a:pPr>
            <a:r>
              <a:rPr lang="en-US" dirty="0">
                <a:solidFill>
                  <a:srgbClr val="000000"/>
                </a:solidFill>
                <a:effectLst/>
              </a:rPr>
              <a:t>Watson AI services</a:t>
            </a:r>
          </a:p>
          <a:p>
            <a:pPr>
              <a:spcBef>
                <a:spcPts val="1200"/>
              </a:spcBef>
              <a:buNone/>
            </a:pPr>
            <a:r>
              <a:rPr lang="en-US" b="1" dirty="0">
                <a:solidFill>
                  <a:srgbClr val="000000"/>
                </a:solidFill>
                <a:effectLst/>
              </a:rPr>
              <a:t>Oracle Cloud</a:t>
            </a:r>
          </a:p>
          <a:p>
            <a:pPr>
              <a:spcBef>
                <a:spcPts val="600"/>
              </a:spcBef>
              <a:buFont typeface="Arial" panose="020B0604020202020204" pitchFamily="34" charset="0"/>
              <a:buChar char="•"/>
            </a:pPr>
            <a:r>
              <a:rPr lang="en-US" dirty="0">
                <a:solidFill>
                  <a:srgbClr val="000000"/>
                </a:solidFill>
                <a:effectLst/>
              </a:rPr>
              <a:t>Database-centric services</a:t>
            </a:r>
          </a:p>
          <a:p>
            <a:pPr>
              <a:spcBef>
                <a:spcPts val="600"/>
              </a:spcBef>
              <a:buFont typeface="Arial" panose="020B0604020202020204" pitchFamily="34" charset="0"/>
              <a:buChar char="•"/>
            </a:pPr>
            <a:r>
              <a:rPr lang="en-US" dirty="0">
                <a:solidFill>
                  <a:srgbClr val="000000"/>
                </a:solidFill>
                <a:effectLst/>
              </a:rPr>
              <a:t>Enterprise applications</a:t>
            </a:r>
          </a:p>
          <a:p>
            <a:pPr>
              <a:spcBef>
                <a:spcPts val="1200"/>
              </a:spcBef>
              <a:buNone/>
            </a:pPr>
            <a:r>
              <a:rPr lang="en-US" b="1" dirty="0">
                <a:solidFill>
                  <a:srgbClr val="000000"/>
                </a:solidFill>
                <a:effectLst/>
              </a:rPr>
              <a:t>Alibaba Cloud</a:t>
            </a:r>
          </a:p>
          <a:p>
            <a:pPr>
              <a:spcBef>
                <a:spcPts val="600"/>
              </a:spcBef>
              <a:buFont typeface="Arial" panose="020B0604020202020204" pitchFamily="34" charset="0"/>
              <a:buChar char="•"/>
            </a:pPr>
            <a:r>
              <a:rPr lang="en-US" dirty="0">
                <a:solidFill>
                  <a:srgbClr val="000000"/>
                </a:solidFill>
                <a:effectLst/>
              </a:rPr>
              <a:t>Dominant in Asia</a:t>
            </a:r>
          </a:p>
          <a:p>
            <a:pPr>
              <a:spcBef>
                <a:spcPts val="600"/>
              </a:spcBef>
              <a:buFont typeface="Arial" panose="020B0604020202020204" pitchFamily="34" charset="0"/>
              <a:buChar char="•"/>
            </a:pPr>
            <a:r>
              <a:rPr lang="en-US" dirty="0">
                <a:solidFill>
                  <a:srgbClr val="000000"/>
                </a:solidFill>
                <a:effectLst/>
              </a:rPr>
              <a:t>Growing international presence</a:t>
            </a:r>
          </a:p>
          <a:p>
            <a:pPr>
              <a:spcBef>
                <a:spcPts val="1200"/>
              </a:spcBef>
              <a:buNone/>
            </a:pPr>
            <a:r>
              <a:rPr lang="en-US" b="1" dirty="0" err="1">
                <a:solidFill>
                  <a:srgbClr val="000000"/>
                </a:solidFill>
                <a:effectLst/>
              </a:rPr>
              <a:t>DigitalOcean</a:t>
            </a:r>
            <a:endParaRPr lang="en-US" b="1"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Developer-friendly</a:t>
            </a:r>
          </a:p>
          <a:p>
            <a:pPr>
              <a:spcBef>
                <a:spcPts val="600"/>
              </a:spcBef>
              <a:buFont typeface="Arial" panose="020B0604020202020204" pitchFamily="34" charset="0"/>
              <a:buChar char="•"/>
            </a:pPr>
            <a:r>
              <a:rPr lang="en-US" dirty="0">
                <a:solidFill>
                  <a:srgbClr val="000000"/>
                </a:solidFill>
                <a:effectLst/>
              </a:rPr>
              <a:t>Simple pricing</a:t>
            </a:r>
          </a:p>
          <a:p>
            <a:pPr>
              <a:spcBef>
                <a:spcPts val="600"/>
              </a:spcBef>
              <a:buFont typeface="Arial" panose="020B0604020202020204" pitchFamily="34" charset="0"/>
              <a:buChar char="•"/>
            </a:pPr>
            <a:r>
              <a:rPr lang="en-US" dirty="0">
                <a:solidFill>
                  <a:srgbClr val="000000"/>
                </a:solidFill>
                <a:effectLst/>
              </a:rPr>
              <a:t>Popular for small projects</a:t>
            </a:r>
          </a:p>
          <a:p>
            <a:pPr marL="0" indent="0">
              <a:buNone/>
            </a:pPr>
            <a:endParaRPr lang="en-US" dirty="0"/>
          </a:p>
        </p:txBody>
      </p:sp>
    </p:spTree>
    <p:extLst>
      <p:ext uri="{BB962C8B-B14F-4D97-AF65-F5344CB8AC3E}">
        <p14:creationId xmlns:p14="http://schemas.microsoft.com/office/powerpoint/2010/main" val="1633366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CFD1F-FFF1-78FB-A105-BEB060D43195}"/>
              </a:ext>
            </a:extLst>
          </p:cNvPr>
          <p:cNvSpPr>
            <a:spLocks noGrp="1"/>
          </p:cNvSpPr>
          <p:nvPr>
            <p:ph type="title"/>
          </p:nvPr>
        </p:nvSpPr>
        <p:spPr/>
        <p:txBody>
          <a:bodyPr/>
          <a:lstStyle/>
          <a:p>
            <a:r>
              <a:rPr lang="en-US" dirty="0"/>
              <a:t>Cloud Services Model (Quick Review)</a:t>
            </a:r>
          </a:p>
        </p:txBody>
      </p:sp>
      <p:sp>
        <p:nvSpPr>
          <p:cNvPr id="3" name="Content Placeholder 2">
            <a:extLst>
              <a:ext uri="{FF2B5EF4-FFF2-40B4-BE49-F238E27FC236}">
                <a16:creationId xmlns:a16="http://schemas.microsoft.com/office/drawing/2014/main" id="{F06DA2A9-3AC2-AF0B-221E-4ED15236545A}"/>
              </a:ext>
            </a:extLst>
          </p:cNvPr>
          <p:cNvSpPr>
            <a:spLocks noGrp="1"/>
          </p:cNvSpPr>
          <p:nvPr>
            <p:ph idx="1"/>
          </p:nvPr>
        </p:nvSpPr>
        <p:spPr/>
        <p:txBody>
          <a:bodyPr>
            <a:normAutofit/>
          </a:bodyPr>
          <a:lstStyle/>
          <a:p>
            <a:pPr>
              <a:spcBef>
                <a:spcPts val="900"/>
              </a:spcBef>
              <a:buNone/>
            </a:pPr>
            <a:r>
              <a:rPr lang="en-US" dirty="0">
                <a:solidFill>
                  <a:srgbClr val="000000"/>
                </a:solidFill>
                <a:effectLst/>
              </a:rPr>
              <a:t>All providers offer three main service models:</a:t>
            </a:r>
          </a:p>
          <a:p>
            <a:pPr>
              <a:spcBef>
                <a:spcPts val="600"/>
              </a:spcBef>
              <a:buFont typeface="Arial" panose="020B0604020202020204" pitchFamily="34" charset="0"/>
              <a:buChar char="•"/>
            </a:pPr>
            <a:r>
              <a:rPr lang="en-US" b="1" dirty="0">
                <a:solidFill>
                  <a:srgbClr val="000000"/>
                </a:solidFill>
                <a:effectLst/>
              </a:rPr>
              <a:t>IaaS (Infrastructure as a Service):</a:t>
            </a:r>
            <a:r>
              <a:rPr lang="en-US" dirty="0">
                <a:solidFill>
                  <a:srgbClr val="000000"/>
                </a:solidFill>
                <a:effectLst/>
              </a:rPr>
              <a:t> Virtual machines, storage, networks</a:t>
            </a:r>
          </a:p>
          <a:p>
            <a:pPr>
              <a:spcBef>
                <a:spcPts val="600"/>
              </a:spcBef>
              <a:buFont typeface="Arial" panose="020B0604020202020204" pitchFamily="34" charset="0"/>
              <a:buChar char="•"/>
            </a:pPr>
            <a:r>
              <a:rPr lang="en-US" b="1" dirty="0">
                <a:solidFill>
                  <a:srgbClr val="000000"/>
                </a:solidFill>
                <a:effectLst/>
              </a:rPr>
              <a:t>PaaS (Platform as a Service):</a:t>
            </a:r>
            <a:r>
              <a:rPr lang="en-US" dirty="0">
                <a:solidFill>
                  <a:srgbClr val="000000"/>
                </a:solidFill>
                <a:effectLst/>
              </a:rPr>
              <a:t> Development platforms, databases</a:t>
            </a:r>
          </a:p>
          <a:p>
            <a:pPr>
              <a:spcBef>
                <a:spcPts val="600"/>
              </a:spcBef>
              <a:buFont typeface="Arial" panose="020B0604020202020204" pitchFamily="34" charset="0"/>
              <a:buChar char="•"/>
            </a:pPr>
            <a:r>
              <a:rPr lang="en-US" b="1" dirty="0">
                <a:solidFill>
                  <a:srgbClr val="000000"/>
                </a:solidFill>
                <a:effectLst/>
              </a:rPr>
              <a:t>SaaS (Software as a Service):</a:t>
            </a:r>
            <a:r>
              <a:rPr lang="en-US" dirty="0">
                <a:solidFill>
                  <a:srgbClr val="000000"/>
                </a:solidFill>
                <a:effectLst/>
              </a:rPr>
              <a:t> Ready-to-use applications</a:t>
            </a:r>
          </a:p>
          <a:p>
            <a:pPr>
              <a:spcBef>
                <a:spcPts val="1200"/>
              </a:spcBef>
              <a:buNone/>
            </a:pPr>
            <a:r>
              <a:rPr lang="en-US" b="1" dirty="0">
                <a:solidFill>
                  <a:srgbClr val="000000"/>
                </a:solidFill>
                <a:effectLst/>
              </a:rPr>
              <a:t>Example in Nepal:</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IaaS: Hosting a website on AWS EC2</a:t>
            </a:r>
          </a:p>
          <a:p>
            <a:pPr>
              <a:spcBef>
                <a:spcPts val="600"/>
              </a:spcBef>
              <a:buFont typeface="Arial" panose="020B0604020202020204" pitchFamily="34" charset="0"/>
              <a:buChar char="•"/>
            </a:pPr>
            <a:r>
              <a:rPr lang="en-US" dirty="0">
                <a:solidFill>
                  <a:srgbClr val="000000"/>
                </a:solidFill>
                <a:effectLst/>
              </a:rPr>
              <a:t>PaaS: Building an app on Google App Engine</a:t>
            </a:r>
          </a:p>
          <a:p>
            <a:pPr>
              <a:spcBef>
                <a:spcPts val="600"/>
              </a:spcBef>
              <a:buFont typeface="Arial" panose="020B0604020202020204" pitchFamily="34" charset="0"/>
              <a:buChar char="•"/>
            </a:pPr>
            <a:r>
              <a:rPr lang="en-US" dirty="0">
                <a:solidFill>
                  <a:srgbClr val="000000"/>
                </a:solidFill>
                <a:effectLst/>
              </a:rPr>
              <a:t>SaaS: Using Microsoft Office 365</a:t>
            </a:r>
          </a:p>
          <a:p>
            <a:pPr marL="0" indent="0">
              <a:buNone/>
            </a:pPr>
            <a:endParaRPr lang="en-US" dirty="0"/>
          </a:p>
        </p:txBody>
      </p:sp>
    </p:spTree>
    <p:extLst>
      <p:ext uri="{BB962C8B-B14F-4D97-AF65-F5344CB8AC3E}">
        <p14:creationId xmlns:p14="http://schemas.microsoft.com/office/powerpoint/2010/main" val="125886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D3765-FA78-9F7D-D853-160BC54EBE9C}"/>
              </a:ext>
            </a:extLst>
          </p:cNvPr>
          <p:cNvSpPr>
            <a:spLocks noGrp="1"/>
          </p:cNvSpPr>
          <p:nvPr>
            <p:ph type="title"/>
          </p:nvPr>
        </p:nvSpPr>
        <p:spPr/>
        <p:txBody>
          <a:bodyPr/>
          <a:lstStyle/>
          <a:p>
            <a:r>
              <a:rPr lang="en-US" dirty="0"/>
              <a:t>Choosing a Cloud Provider</a:t>
            </a:r>
          </a:p>
        </p:txBody>
      </p:sp>
      <p:sp>
        <p:nvSpPr>
          <p:cNvPr id="3" name="Content Placeholder 2">
            <a:extLst>
              <a:ext uri="{FF2B5EF4-FFF2-40B4-BE49-F238E27FC236}">
                <a16:creationId xmlns:a16="http://schemas.microsoft.com/office/drawing/2014/main" id="{A44A0746-BBE5-19F5-BEF7-D95B0C3C2BDE}"/>
              </a:ext>
            </a:extLst>
          </p:cNvPr>
          <p:cNvSpPr>
            <a:spLocks noGrp="1"/>
          </p:cNvSpPr>
          <p:nvPr>
            <p:ph idx="1"/>
          </p:nvPr>
        </p:nvSpPr>
        <p:spPr/>
        <p:txBody>
          <a:bodyPr>
            <a:normAutofit/>
          </a:bodyPr>
          <a:lstStyle/>
          <a:p>
            <a:pPr>
              <a:spcBef>
                <a:spcPts val="900"/>
              </a:spcBef>
              <a:buNone/>
            </a:pPr>
            <a:r>
              <a:rPr lang="en-US" b="1" dirty="0">
                <a:solidFill>
                  <a:srgbClr val="000000"/>
                </a:solidFill>
                <a:effectLst/>
              </a:rPr>
              <a:t>Factors to Consider:</a:t>
            </a:r>
            <a:endParaRPr lang="en-US" dirty="0">
              <a:solidFill>
                <a:srgbClr val="000000"/>
              </a:solidFill>
              <a:effectLst/>
            </a:endParaRPr>
          </a:p>
          <a:p>
            <a:pPr>
              <a:spcBef>
                <a:spcPts val="600"/>
              </a:spcBef>
              <a:buFont typeface="+mj-lt"/>
              <a:buAutoNum type="arabicPeriod"/>
            </a:pPr>
            <a:r>
              <a:rPr lang="en-US" b="1" dirty="0">
                <a:solidFill>
                  <a:srgbClr val="000000"/>
                </a:solidFill>
                <a:effectLst/>
              </a:rPr>
              <a:t>Cost:</a:t>
            </a:r>
            <a:r>
              <a:rPr lang="en-US" dirty="0">
                <a:solidFill>
                  <a:srgbClr val="000000"/>
                </a:solidFill>
                <a:effectLst/>
              </a:rPr>
              <a:t> Compare pricing models and calculators</a:t>
            </a:r>
          </a:p>
          <a:p>
            <a:pPr>
              <a:spcBef>
                <a:spcPts val="600"/>
              </a:spcBef>
              <a:buFont typeface="+mj-lt"/>
              <a:buAutoNum type="arabicPeriod"/>
            </a:pPr>
            <a:r>
              <a:rPr lang="en-US" b="1" dirty="0">
                <a:solidFill>
                  <a:srgbClr val="000000"/>
                </a:solidFill>
                <a:effectLst/>
              </a:rPr>
              <a:t>Services Needed:</a:t>
            </a:r>
            <a:r>
              <a:rPr lang="en-US" dirty="0">
                <a:solidFill>
                  <a:srgbClr val="000000"/>
                </a:solidFill>
                <a:effectLst/>
              </a:rPr>
              <a:t> Match your requirements</a:t>
            </a:r>
          </a:p>
          <a:p>
            <a:pPr>
              <a:spcBef>
                <a:spcPts val="600"/>
              </a:spcBef>
              <a:buFont typeface="+mj-lt"/>
              <a:buAutoNum type="arabicPeriod"/>
            </a:pPr>
            <a:r>
              <a:rPr lang="en-US" b="1" dirty="0">
                <a:solidFill>
                  <a:srgbClr val="000000"/>
                </a:solidFill>
                <a:effectLst/>
              </a:rPr>
              <a:t>Geographic Presence:</a:t>
            </a:r>
            <a:r>
              <a:rPr lang="en-US" dirty="0">
                <a:solidFill>
                  <a:srgbClr val="000000"/>
                </a:solidFill>
                <a:effectLst/>
              </a:rPr>
              <a:t> Latency considerations</a:t>
            </a:r>
          </a:p>
          <a:p>
            <a:pPr>
              <a:spcBef>
                <a:spcPts val="600"/>
              </a:spcBef>
              <a:buFont typeface="+mj-lt"/>
              <a:buAutoNum type="arabicPeriod"/>
            </a:pPr>
            <a:r>
              <a:rPr lang="en-US" b="1" dirty="0">
                <a:solidFill>
                  <a:srgbClr val="000000"/>
                </a:solidFill>
                <a:effectLst/>
              </a:rPr>
              <a:t>Compliance:</a:t>
            </a:r>
            <a:r>
              <a:rPr lang="en-US" dirty="0">
                <a:solidFill>
                  <a:srgbClr val="000000"/>
                </a:solidFill>
                <a:effectLst/>
              </a:rPr>
              <a:t> Data sovereignty laws in Nepal</a:t>
            </a:r>
          </a:p>
          <a:p>
            <a:pPr>
              <a:spcBef>
                <a:spcPts val="600"/>
              </a:spcBef>
              <a:buFont typeface="+mj-lt"/>
              <a:buAutoNum type="arabicPeriod"/>
            </a:pPr>
            <a:r>
              <a:rPr lang="en-US" b="1" dirty="0">
                <a:solidFill>
                  <a:srgbClr val="000000"/>
                </a:solidFill>
                <a:effectLst/>
              </a:rPr>
              <a:t>Support:</a:t>
            </a:r>
            <a:r>
              <a:rPr lang="en-US" dirty="0">
                <a:solidFill>
                  <a:srgbClr val="000000"/>
                </a:solidFill>
                <a:effectLst/>
              </a:rPr>
              <a:t> Local partner availability</a:t>
            </a:r>
          </a:p>
          <a:p>
            <a:pPr>
              <a:spcBef>
                <a:spcPts val="600"/>
              </a:spcBef>
              <a:buFont typeface="+mj-lt"/>
              <a:buAutoNum type="arabicPeriod"/>
            </a:pPr>
            <a:r>
              <a:rPr lang="en-US" b="1" dirty="0">
                <a:solidFill>
                  <a:srgbClr val="000000"/>
                </a:solidFill>
                <a:effectLst/>
              </a:rPr>
              <a:t>Skills:</a:t>
            </a:r>
            <a:r>
              <a:rPr lang="en-US" dirty="0">
                <a:solidFill>
                  <a:srgbClr val="000000"/>
                </a:solidFill>
                <a:effectLst/>
              </a:rPr>
              <a:t> Team expertise and training resources</a:t>
            </a:r>
          </a:p>
          <a:p>
            <a:pPr>
              <a:spcBef>
                <a:spcPts val="600"/>
              </a:spcBef>
              <a:buFont typeface="+mj-lt"/>
              <a:buAutoNum type="arabicPeriod"/>
            </a:pPr>
            <a:r>
              <a:rPr lang="en-US" b="1" dirty="0">
                <a:solidFill>
                  <a:srgbClr val="000000"/>
                </a:solidFill>
                <a:effectLst/>
              </a:rPr>
              <a:t>Integration:</a:t>
            </a:r>
            <a:r>
              <a:rPr lang="en-US" dirty="0">
                <a:solidFill>
                  <a:srgbClr val="000000"/>
                </a:solidFill>
                <a:effectLst/>
              </a:rPr>
              <a:t> Existing tools and systems</a:t>
            </a:r>
          </a:p>
          <a:p>
            <a:pPr>
              <a:spcBef>
                <a:spcPts val="1200"/>
              </a:spcBef>
              <a:buNone/>
            </a:pPr>
            <a:r>
              <a:rPr lang="en-US" b="1" dirty="0">
                <a:solidFill>
                  <a:srgbClr val="000000"/>
                </a:solidFill>
                <a:effectLst/>
              </a:rPr>
              <a:t>Tip:</a:t>
            </a:r>
            <a:r>
              <a:rPr lang="en-US" dirty="0">
                <a:solidFill>
                  <a:srgbClr val="000000"/>
                </a:solidFill>
                <a:effectLst/>
              </a:rPr>
              <a:t> Start with free tiers to experiment!</a:t>
            </a:r>
          </a:p>
          <a:p>
            <a:pPr marL="0" indent="0">
              <a:buNone/>
            </a:pPr>
            <a:endParaRPr lang="en-US" dirty="0"/>
          </a:p>
        </p:txBody>
      </p:sp>
    </p:spTree>
    <p:extLst>
      <p:ext uri="{BB962C8B-B14F-4D97-AF65-F5344CB8AC3E}">
        <p14:creationId xmlns:p14="http://schemas.microsoft.com/office/powerpoint/2010/main" val="2128326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DA99-6564-22FA-770F-A1C2841C8FB2}"/>
              </a:ext>
            </a:extLst>
          </p:cNvPr>
          <p:cNvSpPr>
            <a:spLocks noGrp="1"/>
          </p:cNvSpPr>
          <p:nvPr>
            <p:ph type="title"/>
          </p:nvPr>
        </p:nvSpPr>
        <p:spPr/>
        <p:txBody>
          <a:bodyPr/>
          <a:lstStyle/>
          <a:p>
            <a:r>
              <a:rPr lang="en-US" dirty="0"/>
              <a:t>Cloud Adoption in Nepal</a:t>
            </a:r>
          </a:p>
        </p:txBody>
      </p:sp>
      <p:sp>
        <p:nvSpPr>
          <p:cNvPr id="3" name="Content Placeholder 2">
            <a:extLst>
              <a:ext uri="{FF2B5EF4-FFF2-40B4-BE49-F238E27FC236}">
                <a16:creationId xmlns:a16="http://schemas.microsoft.com/office/drawing/2014/main" id="{EC47EF3C-6DE9-F2FB-BCA1-3723E7BC4A2B}"/>
              </a:ext>
            </a:extLst>
          </p:cNvPr>
          <p:cNvSpPr>
            <a:spLocks noGrp="1"/>
          </p:cNvSpPr>
          <p:nvPr>
            <p:ph idx="1"/>
          </p:nvPr>
        </p:nvSpPr>
        <p:spPr/>
        <p:txBody>
          <a:bodyPr>
            <a:normAutofit fontScale="70000" lnSpcReduction="20000"/>
          </a:bodyPr>
          <a:lstStyle/>
          <a:p>
            <a:pPr>
              <a:spcBef>
                <a:spcPts val="900"/>
              </a:spcBef>
              <a:buNone/>
            </a:pPr>
            <a:r>
              <a:rPr lang="en-US" b="1" dirty="0">
                <a:solidFill>
                  <a:srgbClr val="000000"/>
                </a:solidFill>
                <a:effectLst/>
              </a:rPr>
              <a:t>Current Trends:</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Growing adoption among Nepali IT companies</a:t>
            </a:r>
          </a:p>
          <a:p>
            <a:pPr>
              <a:spcBef>
                <a:spcPts val="600"/>
              </a:spcBef>
              <a:buFont typeface="Arial" panose="020B0604020202020204" pitchFamily="34" charset="0"/>
              <a:buChar char="•"/>
            </a:pPr>
            <a:r>
              <a:rPr lang="en-US" dirty="0">
                <a:solidFill>
                  <a:srgbClr val="000000"/>
                </a:solidFill>
                <a:effectLst/>
              </a:rPr>
              <a:t>Government exploring cloud for e-governance</a:t>
            </a:r>
          </a:p>
          <a:p>
            <a:pPr>
              <a:spcBef>
                <a:spcPts val="600"/>
              </a:spcBef>
              <a:buFont typeface="Arial" panose="020B0604020202020204" pitchFamily="34" charset="0"/>
              <a:buChar char="•"/>
            </a:pPr>
            <a:r>
              <a:rPr lang="en-US" dirty="0">
                <a:solidFill>
                  <a:srgbClr val="000000"/>
                </a:solidFill>
                <a:effectLst/>
              </a:rPr>
              <a:t>Educational institutions using cloud platforms</a:t>
            </a:r>
          </a:p>
          <a:p>
            <a:pPr>
              <a:spcBef>
                <a:spcPts val="600"/>
              </a:spcBef>
              <a:buFont typeface="Arial" panose="020B0604020202020204" pitchFamily="34" charset="0"/>
              <a:buChar char="•"/>
            </a:pPr>
            <a:r>
              <a:rPr lang="en-US" dirty="0">
                <a:solidFill>
                  <a:srgbClr val="000000"/>
                </a:solidFill>
                <a:effectLst/>
              </a:rPr>
              <a:t>Fintech startups leveraging cloud services</a:t>
            </a:r>
          </a:p>
          <a:p>
            <a:pPr>
              <a:spcBef>
                <a:spcPts val="1200"/>
              </a:spcBef>
              <a:buNone/>
            </a:pPr>
            <a:r>
              <a:rPr lang="en-US" b="1" dirty="0">
                <a:solidFill>
                  <a:srgbClr val="000000"/>
                </a:solidFill>
                <a:effectLst/>
              </a:rPr>
              <a:t>Challenges:</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Internet connectivity issues</a:t>
            </a:r>
          </a:p>
          <a:p>
            <a:pPr>
              <a:spcBef>
                <a:spcPts val="600"/>
              </a:spcBef>
              <a:buFont typeface="Arial" panose="020B0604020202020204" pitchFamily="34" charset="0"/>
              <a:buChar char="•"/>
            </a:pPr>
            <a:r>
              <a:rPr lang="en-US" dirty="0">
                <a:solidFill>
                  <a:srgbClr val="000000"/>
                </a:solidFill>
                <a:effectLst/>
              </a:rPr>
              <a:t>Data sovereignty concerns</a:t>
            </a:r>
          </a:p>
          <a:p>
            <a:pPr>
              <a:spcBef>
                <a:spcPts val="600"/>
              </a:spcBef>
              <a:buFont typeface="Arial" panose="020B0604020202020204" pitchFamily="34" charset="0"/>
              <a:buChar char="•"/>
            </a:pPr>
            <a:r>
              <a:rPr lang="en-US" dirty="0">
                <a:solidFill>
                  <a:srgbClr val="000000"/>
                </a:solidFill>
                <a:effectLst/>
              </a:rPr>
              <a:t>Limited local data centers</a:t>
            </a:r>
          </a:p>
          <a:p>
            <a:pPr>
              <a:spcBef>
                <a:spcPts val="600"/>
              </a:spcBef>
              <a:buFont typeface="Arial" panose="020B0604020202020204" pitchFamily="34" charset="0"/>
              <a:buChar char="•"/>
            </a:pPr>
            <a:r>
              <a:rPr lang="en-US" dirty="0">
                <a:solidFill>
                  <a:srgbClr val="000000"/>
                </a:solidFill>
                <a:effectLst/>
              </a:rPr>
              <a:t>Skill gap in cloud technologies</a:t>
            </a:r>
          </a:p>
          <a:p>
            <a:pPr>
              <a:spcBef>
                <a:spcPts val="1200"/>
              </a:spcBef>
              <a:buNone/>
            </a:pPr>
            <a:r>
              <a:rPr lang="en-US" b="1" dirty="0">
                <a:solidFill>
                  <a:srgbClr val="000000"/>
                </a:solidFill>
                <a:effectLst/>
              </a:rPr>
              <a:t>Opportunities:</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Cost savings for businesses</a:t>
            </a:r>
          </a:p>
          <a:p>
            <a:pPr>
              <a:spcBef>
                <a:spcPts val="600"/>
              </a:spcBef>
              <a:buFont typeface="Arial" panose="020B0604020202020204" pitchFamily="34" charset="0"/>
              <a:buChar char="•"/>
            </a:pPr>
            <a:r>
              <a:rPr lang="en-US" dirty="0">
                <a:solidFill>
                  <a:srgbClr val="000000"/>
                </a:solidFill>
                <a:effectLst/>
              </a:rPr>
              <a:t>Innovation enablement</a:t>
            </a:r>
          </a:p>
          <a:p>
            <a:pPr>
              <a:spcBef>
                <a:spcPts val="600"/>
              </a:spcBef>
              <a:buFont typeface="Arial" panose="020B0604020202020204" pitchFamily="34" charset="0"/>
              <a:buChar char="•"/>
            </a:pPr>
            <a:r>
              <a:rPr lang="en-US" dirty="0">
                <a:solidFill>
                  <a:srgbClr val="000000"/>
                </a:solidFill>
                <a:effectLst/>
              </a:rPr>
              <a:t>Global market access</a:t>
            </a:r>
          </a:p>
          <a:p>
            <a:pPr>
              <a:spcBef>
                <a:spcPts val="600"/>
              </a:spcBef>
              <a:buFont typeface="Arial" panose="020B0604020202020204" pitchFamily="34" charset="0"/>
              <a:buChar char="•"/>
            </a:pPr>
            <a:r>
              <a:rPr lang="en-US" dirty="0">
                <a:solidFill>
                  <a:srgbClr val="000000"/>
                </a:solidFill>
                <a:effectLst/>
              </a:rPr>
              <a:t>Career opportunities for IT graduates</a:t>
            </a:r>
          </a:p>
          <a:p>
            <a:pPr marL="0" indent="0">
              <a:buNone/>
            </a:pPr>
            <a:endParaRPr lang="en-US" dirty="0"/>
          </a:p>
        </p:txBody>
      </p:sp>
    </p:spTree>
    <p:extLst>
      <p:ext uri="{BB962C8B-B14F-4D97-AF65-F5344CB8AC3E}">
        <p14:creationId xmlns:p14="http://schemas.microsoft.com/office/powerpoint/2010/main" val="3856757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ADC1D-D551-7018-51AF-3D829CD3B50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99FF054-33A5-7F51-A76B-DB85A0FA9722}"/>
              </a:ext>
            </a:extLst>
          </p:cNvPr>
          <p:cNvSpPr>
            <a:spLocks noGrp="1"/>
          </p:cNvSpPr>
          <p:nvPr>
            <p:ph idx="1"/>
          </p:nvPr>
        </p:nvSpPr>
        <p:spPr/>
        <p:txBody>
          <a:bodyPr>
            <a:normAutofit/>
          </a:bodyPr>
          <a:lstStyle/>
          <a:p>
            <a:pPr>
              <a:spcBef>
                <a:spcPts val="900"/>
              </a:spcBef>
              <a:buNone/>
            </a:pPr>
            <a:r>
              <a:rPr lang="en-US" b="1" dirty="0">
                <a:solidFill>
                  <a:srgbClr val="000000"/>
                </a:solidFill>
                <a:effectLst/>
              </a:rPr>
              <a:t>Key Takeaways:</a:t>
            </a:r>
          </a:p>
          <a:p>
            <a:pPr>
              <a:spcBef>
                <a:spcPts val="600"/>
              </a:spcBef>
              <a:buNone/>
            </a:pPr>
            <a:r>
              <a:rPr lang="en-US" b="1" dirty="0">
                <a:solidFill>
                  <a:srgbClr val="000000"/>
                </a:solidFill>
                <a:effectLst/>
              </a:rPr>
              <a:t>Characteristics of Cloud Computing:</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On-demand self-service, Broad network access, Resource pooling, Rapid elasticity, Measured service</a:t>
            </a:r>
          </a:p>
          <a:p>
            <a:pPr>
              <a:spcBef>
                <a:spcPts val="1200"/>
              </a:spcBef>
              <a:buNone/>
            </a:pPr>
            <a:r>
              <a:rPr lang="en-US" b="1" dirty="0">
                <a:solidFill>
                  <a:srgbClr val="000000"/>
                </a:solidFill>
                <a:effectLst/>
              </a:rPr>
              <a:t>Cloud vs Traditional IT:</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Cloud offers flexibility, cost savings, and scalability over traditional infrastructure</a:t>
            </a:r>
          </a:p>
          <a:p>
            <a:pPr>
              <a:spcBef>
                <a:spcPts val="1200"/>
              </a:spcBef>
              <a:buNone/>
            </a:pPr>
            <a:r>
              <a:rPr lang="en-US" b="1" dirty="0">
                <a:solidFill>
                  <a:srgbClr val="000000"/>
                </a:solidFill>
                <a:effectLst/>
              </a:rPr>
              <a:t>Major Providers:</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AWS (leader), Azure (enterprise), GCP (analytics/AI)</a:t>
            </a:r>
          </a:p>
          <a:p>
            <a:pPr>
              <a:spcBef>
                <a:spcPts val="600"/>
              </a:spcBef>
              <a:buFont typeface="Arial" panose="020B0604020202020204" pitchFamily="34" charset="0"/>
              <a:buChar char="•"/>
            </a:pPr>
            <a:r>
              <a:rPr lang="en-US" dirty="0">
                <a:solidFill>
                  <a:srgbClr val="000000"/>
                </a:solidFill>
                <a:effectLst/>
              </a:rPr>
              <a:t>Choose based on needs, budget, and expertise</a:t>
            </a:r>
          </a:p>
          <a:p>
            <a:pPr marL="0" indent="0">
              <a:buNone/>
            </a:pPr>
            <a:endParaRPr lang="en-US" dirty="0"/>
          </a:p>
        </p:txBody>
      </p:sp>
    </p:spTree>
    <p:extLst>
      <p:ext uri="{BB962C8B-B14F-4D97-AF65-F5344CB8AC3E}">
        <p14:creationId xmlns:p14="http://schemas.microsoft.com/office/powerpoint/2010/main" val="537016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20F5-DCDA-23F2-149E-2FBF8B791520}"/>
              </a:ext>
            </a:extLst>
          </p:cNvPr>
          <p:cNvSpPr>
            <a:spLocks noGrp="1"/>
          </p:cNvSpPr>
          <p:nvPr>
            <p:ph type="title"/>
          </p:nvPr>
        </p:nvSpPr>
        <p:spPr/>
        <p:txBody>
          <a:bodyPr/>
          <a:lstStyle/>
          <a:p>
            <a:r>
              <a:rPr lang="en-US" b="1" dirty="0">
                <a:solidFill>
                  <a:srgbClr val="000000"/>
                </a:solidFill>
                <a:effectLst/>
              </a:rPr>
              <a:t>Discussion Questions</a:t>
            </a:r>
            <a:br>
              <a:rPr lang="en-US" b="1" dirty="0">
                <a:solidFill>
                  <a:srgbClr val="000000"/>
                </a:solidFill>
                <a:effectLst/>
              </a:rPr>
            </a:br>
            <a:endParaRPr lang="en-US" dirty="0"/>
          </a:p>
        </p:txBody>
      </p:sp>
      <p:sp>
        <p:nvSpPr>
          <p:cNvPr id="3" name="Content Placeholder 2">
            <a:extLst>
              <a:ext uri="{FF2B5EF4-FFF2-40B4-BE49-F238E27FC236}">
                <a16:creationId xmlns:a16="http://schemas.microsoft.com/office/drawing/2014/main" id="{9D169701-2969-9787-4506-3EC6B4B51182}"/>
              </a:ext>
            </a:extLst>
          </p:cNvPr>
          <p:cNvSpPr>
            <a:spLocks noGrp="1"/>
          </p:cNvSpPr>
          <p:nvPr>
            <p:ph idx="1"/>
          </p:nvPr>
        </p:nvSpPr>
        <p:spPr/>
        <p:txBody>
          <a:bodyPr/>
          <a:lstStyle/>
          <a:p>
            <a:pPr>
              <a:spcBef>
                <a:spcPts val="900"/>
              </a:spcBef>
              <a:buFont typeface="+mj-lt"/>
              <a:buAutoNum type="arabicPeriod"/>
            </a:pPr>
            <a:r>
              <a:rPr lang="en-US" dirty="0">
                <a:solidFill>
                  <a:srgbClr val="000000"/>
                </a:solidFill>
                <a:effectLst/>
              </a:rPr>
              <a:t>How can cloud computing benefit small businesses in Nepal?</a:t>
            </a:r>
          </a:p>
          <a:p>
            <a:pPr>
              <a:spcBef>
                <a:spcPts val="600"/>
              </a:spcBef>
              <a:buFont typeface="+mj-lt"/>
              <a:buAutoNum type="arabicPeriod"/>
            </a:pPr>
            <a:r>
              <a:rPr lang="en-US" dirty="0">
                <a:solidFill>
                  <a:srgbClr val="000000"/>
                </a:solidFill>
                <a:effectLst/>
              </a:rPr>
              <a:t>What are the main concerns for Nepali organizations adopting cloud?</a:t>
            </a:r>
          </a:p>
          <a:p>
            <a:pPr>
              <a:spcBef>
                <a:spcPts val="600"/>
              </a:spcBef>
              <a:buFont typeface="+mj-lt"/>
              <a:buAutoNum type="arabicPeriod"/>
            </a:pPr>
            <a:r>
              <a:rPr lang="en-US" dirty="0">
                <a:solidFill>
                  <a:srgbClr val="000000"/>
                </a:solidFill>
                <a:effectLst/>
              </a:rPr>
              <a:t>Which cloud provider would you choose for a startup and why?</a:t>
            </a:r>
          </a:p>
          <a:p>
            <a:pPr>
              <a:spcBef>
                <a:spcPts val="600"/>
              </a:spcBef>
              <a:buFont typeface="+mj-lt"/>
              <a:buAutoNum type="arabicPeriod"/>
            </a:pPr>
            <a:r>
              <a:rPr lang="en-US" dirty="0">
                <a:solidFill>
                  <a:srgbClr val="000000"/>
                </a:solidFill>
                <a:effectLst/>
              </a:rPr>
              <a:t>How does cloud computing impact IT job roles?</a:t>
            </a:r>
          </a:p>
          <a:p>
            <a:pPr marL="0" indent="0">
              <a:buNone/>
            </a:pPr>
            <a:endParaRPr lang="en-US" dirty="0"/>
          </a:p>
        </p:txBody>
      </p:sp>
    </p:spTree>
    <p:extLst>
      <p:ext uri="{BB962C8B-B14F-4D97-AF65-F5344CB8AC3E}">
        <p14:creationId xmlns:p14="http://schemas.microsoft.com/office/powerpoint/2010/main" val="4166266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FFD55-08E0-8C2E-6609-AD7AFD5030E5}"/>
              </a:ext>
            </a:extLst>
          </p:cNvPr>
          <p:cNvSpPr>
            <a:spLocks noGrp="1"/>
          </p:cNvSpPr>
          <p:nvPr>
            <p:ph type="title"/>
          </p:nvPr>
        </p:nvSpPr>
        <p:spPr/>
        <p:txBody>
          <a:bodyPr/>
          <a:lstStyle/>
          <a:p>
            <a:r>
              <a:rPr lang="en-US" dirty="0"/>
              <a:t>Resources and Next Step</a:t>
            </a:r>
          </a:p>
        </p:txBody>
      </p:sp>
      <p:sp>
        <p:nvSpPr>
          <p:cNvPr id="3" name="Content Placeholder 2">
            <a:extLst>
              <a:ext uri="{FF2B5EF4-FFF2-40B4-BE49-F238E27FC236}">
                <a16:creationId xmlns:a16="http://schemas.microsoft.com/office/drawing/2014/main" id="{89006572-FCDD-C256-9377-69D14F3316ED}"/>
              </a:ext>
            </a:extLst>
          </p:cNvPr>
          <p:cNvSpPr>
            <a:spLocks noGrp="1"/>
          </p:cNvSpPr>
          <p:nvPr>
            <p:ph idx="1"/>
          </p:nvPr>
        </p:nvSpPr>
        <p:spPr/>
        <p:txBody>
          <a:bodyPr>
            <a:normAutofit/>
          </a:bodyPr>
          <a:lstStyle/>
          <a:p>
            <a:pPr>
              <a:spcBef>
                <a:spcPts val="900"/>
              </a:spcBef>
              <a:buNone/>
            </a:pPr>
            <a:r>
              <a:rPr lang="en-US" b="1" dirty="0">
                <a:solidFill>
                  <a:srgbClr val="000000"/>
                </a:solidFill>
                <a:effectLst/>
              </a:rPr>
              <a:t>Free Learning Resources:</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AWS Free Tier &amp; Training</a:t>
            </a:r>
          </a:p>
          <a:p>
            <a:pPr>
              <a:spcBef>
                <a:spcPts val="600"/>
              </a:spcBef>
              <a:buFont typeface="Arial" panose="020B0604020202020204" pitchFamily="34" charset="0"/>
              <a:buChar char="•"/>
            </a:pPr>
            <a:r>
              <a:rPr lang="en-US" dirty="0">
                <a:solidFill>
                  <a:srgbClr val="000000"/>
                </a:solidFill>
                <a:effectLst/>
              </a:rPr>
              <a:t>Microsoft Learn (Azure)</a:t>
            </a:r>
          </a:p>
          <a:p>
            <a:pPr>
              <a:spcBef>
                <a:spcPts val="600"/>
              </a:spcBef>
              <a:buFont typeface="Arial" panose="020B0604020202020204" pitchFamily="34" charset="0"/>
              <a:buChar char="•"/>
            </a:pPr>
            <a:r>
              <a:rPr lang="en-US" dirty="0">
                <a:solidFill>
                  <a:srgbClr val="000000"/>
                </a:solidFill>
                <a:effectLst/>
              </a:rPr>
              <a:t>Google Cloud Skills Boost</a:t>
            </a:r>
          </a:p>
          <a:p>
            <a:pPr>
              <a:spcBef>
                <a:spcPts val="600"/>
              </a:spcBef>
              <a:buFont typeface="Arial" panose="020B0604020202020204" pitchFamily="34" charset="0"/>
              <a:buChar char="•"/>
            </a:pPr>
            <a:r>
              <a:rPr lang="en-US" dirty="0">
                <a:solidFill>
                  <a:srgbClr val="000000"/>
                </a:solidFill>
                <a:effectLst/>
              </a:rPr>
              <a:t>Coursera &amp; edX cloud courses</a:t>
            </a:r>
          </a:p>
          <a:p>
            <a:pPr>
              <a:spcBef>
                <a:spcPts val="1200"/>
              </a:spcBef>
              <a:buNone/>
            </a:pPr>
            <a:r>
              <a:rPr lang="en-US" b="1" dirty="0">
                <a:solidFill>
                  <a:srgbClr val="000000"/>
                </a:solidFill>
                <a:effectLst/>
              </a:rPr>
              <a:t>Certifications to Consider:</a:t>
            </a:r>
            <a:endParaRPr lang="en-US" dirty="0">
              <a:solidFill>
                <a:srgbClr val="000000"/>
              </a:solidFill>
              <a:effectLst/>
            </a:endParaRPr>
          </a:p>
          <a:p>
            <a:pPr>
              <a:spcBef>
                <a:spcPts val="600"/>
              </a:spcBef>
              <a:buFont typeface="Arial" panose="020B0604020202020204" pitchFamily="34" charset="0"/>
              <a:buChar char="•"/>
            </a:pPr>
            <a:r>
              <a:rPr lang="en-US" dirty="0">
                <a:solidFill>
                  <a:srgbClr val="000000"/>
                </a:solidFill>
                <a:effectLst/>
              </a:rPr>
              <a:t>AWS Certified Cloud Practitioner</a:t>
            </a:r>
          </a:p>
          <a:p>
            <a:pPr>
              <a:spcBef>
                <a:spcPts val="600"/>
              </a:spcBef>
              <a:buFont typeface="Arial" panose="020B0604020202020204" pitchFamily="34" charset="0"/>
              <a:buChar char="•"/>
            </a:pPr>
            <a:r>
              <a:rPr lang="en-US" dirty="0">
                <a:solidFill>
                  <a:srgbClr val="000000"/>
                </a:solidFill>
                <a:effectLst/>
              </a:rPr>
              <a:t>Microsoft Azure Fundamentals (AZ-900)</a:t>
            </a:r>
          </a:p>
          <a:p>
            <a:pPr>
              <a:spcBef>
                <a:spcPts val="600"/>
              </a:spcBef>
              <a:buFont typeface="Arial" panose="020B0604020202020204" pitchFamily="34" charset="0"/>
              <a:buChar char="•"/>
            </a:pPr>
            <a:r>
              <a:rPr lang="en-US" dirty="0">
                <a:solidFill>
                  <a:srgbClr val="000000"/>
                </a:solidFill>
                <a:effectLst/>
              </a:rPr>
              <a:t>Google Cloud Digital Leader</a:t>
            </a:r>
          </a:p>
          <a:p>
            <a:pPr>
              <a:spcBef>
                <a:spcPts val="1200"/>
              </a:spcBef>
              <a:buNone/>
            </a:pPr>
            <a:r>
              <a:rPr lang="en-US" b="1" dirty="0">
                <a:solidFill>
                  <a:srgbClr val="000000"/>
                </a:solidFill>
                <a:effectLst/>
              </a:rPr>
              <a:t>Practice:</a:t>
            </a:r>
            <a:r>
              <a:rPr lang="en-US" dirty="0">
                <a:solidFill>
                  <a:srgbClr val="000000"/>
                </a:solidFill>
                <a:effectLst/>
              </a:rPr>
              <a:t> Create free tier accounts and experiment!</a:t>
            </a:r>
          </a:p>
          <a:p>
            <a:pPr marL="0" indent="0">
              <a:buNone/>
            </a:pPr>
            <a:endParaRPr lang="en-US" dirty="0"/>
          </a:p>
        </p:txBody>
      </p:sp>
    </p:spTree>
    <p:extLst>
      <p:ext uri="{BB962C8B-B14F-4D97-AF65-F5344CB8AC3E}">
        <p14:creationId xmlns:p14="http://schemas.microsoft.com/office/powerpoint/2010/main" val="550165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F0129-B62C-D070-927B-9A8971EE61B7}"/>
              </a:ext>
            </a:extLst>
          </p:cNvPr>
          <p:cNvSpPr>
            <a:spLocks noGrp="1"/>
          </p:cNvSpPr>
          <p:nvPr>
            <p:ph type="title"/>
          </p:nvPr>
        </p:nvSpPr>
        <p:spPr/>
        <p:txBody>
          <a:bodyPr/>
          <a:lstStyle/>
          <a:p>
            <a:r>
              <a:rPr lang="en-US" b="1" dirty="0"/>
              <a:t>Questions?</a:t>
            </a:r>
            <a:br>
              <a:rPr lang="en-US" b="1" dirty="0"/>
            </a:br>
            <a:endParaRPr lang="en-US" dirty="0"/>
          </a:p>
        </p:txBody>
      </p:sp>
      <p:sp>
        <p:nvSpPr>
          <p:cNvPr id="3" name="Content Placeholder 2">
            <a:extLst>
              <a:ext uri="{FF2B5EF4-FFF2-40B4-BE49-F238E27FC236}">
                <a16:creationId xmlns:a16="http://schemas.microsoft.com/office/drawing/2014/main" id="{4DC64E49-094F-E91C-24FD-0E92DFACE88F}"/>
              </a:ext>
            </a:extLst>
          </p:cNvPr>
          <p:cNvSpPr>
            <a:spLocks noGrp="1"/>
          </p:cNvSpPr>
          <p:nvPr>
            <p:ph idx="1"/>
          </p:nvPr>
        </p:nvSpPr>
        <p:spPr/>
        <p:txBody>
          <a:bodyPr/>
          <a:lstStyle/>
          <a:p>
            <a:pPr marL="0" indent="0">
              <a:buNone/>
            </a:pPr>
            <a:endParaRPr lang="en-US" b="1" dirty="0"/>
          </a:p>
        </p:txBody>
      </p:sp>
    </p:spTree>
    <p:extLst>
      <p:ext uri="{BB962C8B-B14F-4D97-AF65-F5344CB8AC3E}">
        <p14:creationId xmlns:p14="http://schemas.microsoft.com/office/powerpoint/2010/main" val="300776836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20</TotalTime>
  <Words>1422</Words>
  <Application>Microsoft Office PowerPoint</Application>
  <PresentationFormat>Widescreen</PresentationFormat>
  <Paragraphs>263</Paragraphs>
  <Slides>23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Retrospect</vt:lpstr>
      <vt:lpstr>Introduction</vt:lpstr>
      <vt:lpstr>Five Essential Characteristics (NIST Definition)</vt:lpstr>
      <vt:lpstr>Five Essential Characteristics (Continued)</vt:lpstr>
      <vt:lpstr>Five Essential Characteristics (Continued)</vt:lpstr>
      <vt:lpstr>Additional Cloud Characteristics </vt:lpstr>
      <vt:lpstr>Cloud vs Traditional IT Infrastructure</vt:lpstr>
      <vt:lpstr>Cloud Infrastructure</vt:lpstr>
      <vt:lpstr>Comparison Table</vt:lpstr>
      <vt:lpstr>Cost Analysis</vt:lpstr>
      <vt:lpstr>When to use each?</vt:lpstr>
      <vt:lpstr>The Three Big Cloud Providers</vt:lpstr>
      <vt:lpstr>Amazon Web Services (AWS)</vt:lpstr>
      <vt:lpstr>Microsoft Azure</vt:lpstr>
      <vt:lpstr> Google Cloud Platform</vt:lpstr>
      <vt:lpstr>Service Provider Comparison</vt:lpstr>
      <vt:lpstr>Other Notable Providers</vt:lpstr>
      <vt:lpstr>Cloud Services Model (Quick Review)</vt:lpstr>
      <vt:lpstr>Choosing a Cloud Provider</vt:lpstr>
      <vt:lpstr>Cloud Adoption in Nepal</vt:lpstr>
      <vt:lpstr>Summary</vt:lpstr>
      <vt:lpstr>Discussion Questions </vt:lpstr>
      <vt:lpstr>Resources and Next Step</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Bhattarai</dc:creator>
  <cp:lastModifiedBy>Ashok Bhattarai</cp:lastModifiedBy>
  <cp:revision>3</cp:revision>
  <dcterms:created xsi:type="dcterms:W3CDTF">2025-11-27T15:51:07Z</dcterms:created>
  <dcterms:modified xsi:type="dcterms:W3CDTF">2025-11-27T16:19:21Z</dcterms:modified>
</cp:coreProperties>
</file>