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1"/>
  </p:notesMasterIdLst>
  <p:sldIdLst>
    <p:sldId id="256" r:id="rId2"/>
    <p:sldId id="259" r:id="rId3"/>
    <p:sldId id="260" r:id="rId4"/>
    <p:sldId id="261" r:id="rId5"/>
    <p:sldId id="304" r:id="rId6"/>
    <p:sldId id="262" r:id="rId7"/>
    <p:sldId id="263" r:id="rId8"/>
    <p:sldId id="305" r:id="rId9"/>
    <p:sldId id="264" r:id="rId10"/>
    <p:sldId id="265" r:id="rId11"/>
    <p:sldId id="266" r:id="rId12"/>
    <p:sldId id="267" r:id="rId13"/>
    <p:sldId id="268" r:id="rId14"/>
    <p:sldId id="269" r:id="rId15"/>
    <p:sldId id="270" r:id="rId16"/>
    <p:sldId id="271" r:id="rId17"/>
    <p:sldId id="306" r:id="rId18"/>
    <p:sldId id="272" r:id="rId19"/>
    <p:sldId id="273" r:id="rId20"/>
    <p:sldId id="274" r:id="rId21"/>
    <p:sldId id="275" r:id="rId22"/>
    <p:sldId id="276" r:id="rId23"/>
    <p:sldId id="303"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485" autoAdjust="0"/>
  </p:normalViewPr>
  <p:slideViewPr>
    <p:cSldViewPr snapToGrid="0" snapToObjects="1">
      <p:cViewPr varScale="1">
        <p:scale>
          <a:sx n="77" d="100"/>
          <a:sy n="77" d="100"/>
        </p:scale>
        <p:origin x="161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49154C-0D7E-4CC4-8218-6F78A318B330}" type="datetimeFigureOut">
              <a:rPr lang="en-US" smtClean="0"/>
              <a:t>12/30/2025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59EB9B-6A40-4703-9765-7B9B7AF9DB80}" type="slidenum">
              <a:rPr lang="en-US" smtClean="0"/>
              <a:t>‹#›</a:t>
            </a:fld>
            <a:endParaRPr lang="en-US"/>
          </a:p>
        </p:txBody>
      </p:sp>
    </p:spTree>
    <p:extLst>
      <p:ext uri="{BB962C8B-B14F-4D97-AF65-F5344CB8AC3E}">
        <p14:creationId xmlns:p14="http://schemas.microsoft.com/office/powerpoint/2010/main" val="994749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google.com/search?q=Cloud+redundancy&amp;oq=redundancy+in+cloud+computing&amp;gs_lcrp=EgZjaHJvbWUyCQgAEEUYORiABDIICAEQABgWGB4yCAgCEAAYFhgeMggIAxAAGBYYHjIICAQQABgWGB4yCAgFEAAYFhgeMggIBhAAGBYYHjIICAcQABgWGB4yCAgIEAAYFhgeMggICRAAGBYYHtIBCDYxMzVqMGo3qAIAsAIA&amp;sourceid=chrome&amp;ie=UTF-8&amp;mstk=AUtExfDB0osVXZFd8vWKmM7ubB19HzFnhtf1AJu0yFHVR0GYECDatgkXW5OXufSeDiJsvZND82wIP1PB4KysrQ3phD8GZmZJ-BQy04UkK-yLEbk9XU1aNkLVOs7tIETskLly7o8VQDv5VWMTDIiT7ydDUoqFz3yFjJEcK6_S-e2GSdKPd_Q&amp;csui=3&amp;ved=2ahUKEwj9-pLNhtSRAxWNOTQIHRUrLHMQgK4QegQIARAB"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google.com/search?q=microservices&amp;newwindow=1&amp;sca_esv=0b6cd31ca70c40ac&amp;sxsrf=AE3TifMsYOHv3AZSoQfF3rFMbGYFY7NpXQ%3A1766504638724&amp;ei=vrhKaZT2K9XCjuMP-7XSgAU&amp;ved=2ahUKEwid5ITthtSRAxU0V2wGHWCxHncQgK4QegQIARAE&amp;uact=5&amp;oq=Fault+isolation+in+cloud+computing&amp;gs_lp=Egxnd3Mtd2l6LXNlcnAiIkZhdWx0IGlzb2xhdGlvbiBpbiBjbG91ZCBjb21wdXRpbmcyBhAAGBYYHjILEAAYgAQYhgMYigUyCxAAGIAEGIYDGIoFMgUQABjvBTIFEAAY7wVI6EVQ7QZY5kNwA3gBkAEAmAGbAqABxyCqAQYwLjExLjm4AQPIAQD4AQL4AQGYAhegAvMhwgIKEAAYsAMY1gQYR8ICBRAAGIAEwgIIEAAYgAQYogSYAwCIBgGQBgiSBwYzLjkuMTGgB9JjsgcGMC45LjExuAfhIcIHBDItMjPIB3qACAA&amp;sclient=gws-wiz-serp&amp;mstk=AUtExfAm9UzONRIe7a7pH4zIw3dOBcX53U15cq0J-dAg39fVRh7y3wq-be7zZEjBbuxQQYr3qfS3IH8ZFZdIqCwAp3_gCrDf1uRgSPsRWgmIETRAQOhxt4mr0wNaZr_CJH9haD_ixftpDV3H1NjhXQuCJwjVi_bhLBul_RTqUxNnVHHhqfJRtwcYgUVj1plP_lMkt65j33hK2jzSAzQOqqpf_YdI3uR4WMs0209sp5GWzawkcuqwESdz0_uxkmTFnkJ3i7SwXBSvT6EKiaZPQrqgucof&amp;csui=3" TargetMode="External"/><Relationship Id="rId7" Type="http://schemas.openxmlformats.org/officeDocument/2006/relationships/hyperlink" Target="https://www.google.com/search?q=redundancy&amp;newwindow=1&amp;sca_esv=0b6cd31ca70c40ac&amp;sxsrf=AE3TifMsYOHv3AZSoQfF3rFMbGYFY7NpXQ%3A1766504638724&amp;ei=vrhKaZT2K9XCjuMP-7XSgAU&amp;ved=2ahUKEwid5ITthtSRAxU0V2wGHWCxHncQgK4QegQIARAI&amp;uact=5&amp;oq=Fault+isolation+in+cloud+computing&amp;gs_lp=Egxnd3Mtd2l6LXNlcnAiIkZhdWx0IGlzb2xhdGlvbiBpbiBjbG91ZCBjb21wdXRpbmcyBhAAGBYYHjILEAAYgAQYhgMYigUyCxAAGIAEGIYDGIoFMgUQABjvBTIFEAAY7wVI6EVQ7QZY5kNwA3gBkAEAmAGbAqABxyCqAQYwLjExLjm4AQPIAQD4AQL4AQGYAhegAvMhwgIKEAAYsAMY1gQYR8ICBRAAGIAEwgIIEAAYgAQYogSYAwCIBgGQBgiSBwYzLjkuMTGgB9JjsgcGMC45LjExuAfhIcIHBDItMjPIB3qACAA&amp;sclient=gws-wiz-serp&amp;mstk=AUtExfAm9UzONRIe7a7pH4zIw3dOBcX53U15cq0J-dAg39fVRh7y3wq-be7zZEjBbuxQQYr3qfS3IH8ZFZdIqCwAp3_gCrDf1uRgSPsRWgmIETRAQOhxt4mr0wNaZr_CJH9haD_ixftpDV3H1NjhXQuCJwjVi_bhLBul_RTqUxNnVHHhqfJRtwcYgUVj1plP_lMkt65j33hK2jzSAzQOqqpf_YdI3uR4WMs0209sp5GWzawkcuqwESdz0_uxkmTFnkJ3i7SwXBSvT6EKiaZPQrqgucof&amp;csui=3"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www.google.com/search?q=resource+partitioning&amp;newwindow=1&amp;sca_esv=0b6cd31ca70c40ac&amp;sxsrf=AE3TifMsYOHv3AZSoQfF3rFMbGYFY7NpXQ%3A1766504638724&amp;ei=vrhKaZT2K9XCjuMP-7XSgAU&amp;ved=2ahUKEwid5ITthtSRAxU0V2wGHWCxHncQgK4QegQIARAH&amp;uact=5&amp;oq=Fault+isolation+in+cloud+computing&amp;gs_lp=Egxnd3Mtd2l6LXNlcnAiIkZhdWx0IGlzb2xhdGlvbiBpbiBjbG91ZCBjb21wdXRpbmcyBhAAGBYYHjILEAAYgAQYhgMYigUyCxAAGIAEGIYDGIoFMgUQABjvBTIFEAAY7wVI6EVQ7QZY5kNwA3gBkAEAmAGbAqABxyCqAQYwLjExLjm4AQPIAQD4AQL4AQGYAhegAvMhwgIKEAAYsAMY1gQYR8ICBRAAGIAEwgIIEAAYgAQYogSYAwCIBgGQBgiSBwYzLjkuMTGgB9JjsgcGMC45LjExuAfhIcIHBDItMjPIB3qACAA&amp;sclient=gws-wiz-serp&amp;mstk=AUtExfAm9UzONRIe7a7pH4zIw3dOBcX53U15cq0J-dAg39fVRh7y3wq-be7zZEjBbuxQQYr3qfS3IH8ZFZdIqCwAp3_gCrDf1uRgSPsRWgmIETRAQOhxt4mr0wNaZr_CJH9haD_ixftpDV3H1NjhXQuCJwjVi_bhLBul_RTqUxNnVHHhqfJRtwcYgUVj1plP_lMkt65j33hK2jzSAzQOqqpf_YdI3uR4WMs0209sp5GWzawkcuqwESdz0_uxkmTFnkJ3i7SwXBSvT6EKiaZPQrqgucof&amp;csui=3" TargetMode="External"/><Relationship Id="rId5" Type="http://schemas.openxmlformats.org/officeDocument/2006/relationships/hyperlink" Target="https://www.google.com/search?q=event+queues&amp;newwindow=1&amp;sca_esv=0b6cd31ca70c40ac&amp;sxsrf=AE3TifMsYOHv3AZSoQfF3rFMbGYFY7NpXQ%3A1766504638724&amp;ei=vrhKaZT2K9XCjuMP-7XSgAU&amp;ved=2ahUKEwid5ITthtSRAxU0V2wGHWCxHncQgK4QegQIARAG&amp;uact=5&amp;oq=Fault+isolation+in+cloud+computing&amp;gs_lp=Egxnd3Mtd2l6LXNlcnAiIkZhdWx0IGlzb2xhdGlvbiBpbiBjbG91ZCBjb21wdXRpbmcyBhAAGBYYHjILEAAYgAQYhgMYigUyCxAAGIAEGIYDGIoFMgUQABjvBTIFEAAY7wVI6EVQ7QZY5kNwA3gBkAEAmAGbAqABxyCqAQYwLjExLjm4AQPIAQD4AQL4AQGYAhegAvMhwgIKEAAYsAMY1gQYR8ICBRAAGIAEwgIIEAAYgAQYogSYAwCIBgGQBgiSBwYzLjkuMTGgB9JjsgcGMC45LjExuAfhIcIHBDItMjPIB3qACAA&amp;sclient=gws-wiz-serp&amp;mstk=AUtExfAm9UzONRIe7a7pH4zIw3dOBcX53U15cq0J-dAg39fVRh7y3wq-be7zZEjBbuxQQYr3qfS3IH8ZFZdIqCwAp3_gCrDf1uRgSPsRWgmIETRAQOhxt4mr0wNaZr_CJH9haD_ixftpDV3H1NjhXQuCJwjVi_bhLBul_RTqUxNnVHHhqfJRtwcYgUVj1plP_lMkt65j33hK2jzSAzQOqqpf_YdI3uR4WMs0209sp5GWzawkcuqwESdz0_uxkmTFnkJ3i7SwXBSvT6EKiaZPQrqgucof&amp;csui=3" TargetMode="External"/><Relationship Id="rId4" Type="http://schemas.openxmlformats.org/officeDocument/2006/relationships/hyperlink" Target="https://www.google.com/search?q=containerization&amp;newwindow=1&amp;sca_esv=0b6cd31ca70c40ac&amp;sxsrf=AE3TifMsYOHv3AZSoQfF3rFMbGYFY7NpXQ%3A1766504638724&amp;ei=vrhKaZT2K9XCjuMP-7XSgAU&amp;ved=2ahUKEwid5ITthtSRAxU0V2wGHWCxHncQgK4QegQIARAF&amp;uact=5&amp;oq=Fault+isolation+in+cloud+computing&amp;gs_lp=Egxnd3Mtd2l6LXNlcnAiIkZhdWx0IGlzb2xhdGlvbiBpbiBjbG91ZCBjb21wdXRpbmcyBhAAGBYYHjILEAAYgAQYhgMYigUyCxAAGIAEGIYDGIoFMgUQABjvBTIFEAAY7wVI6EVQ7QZY5kNwA3gBkAEAmAGbAqABxyCqAQYwLjExLjm4AQPIAQD4AQL4AQGYAhegAvMhwgIKEAAYsAMY1gQYR8ICBRAAGIAEwgIIEAAYgAQYogSYAwCIBgGQBgiSBwYzLjkuMTGgB9JjsgcGMC45LjExuAfhIcIHBDItMjPIB3qACAA&amp;sclient=gws-wiz-serp&amp;mstk=AUtExfAm9UzONRIe7a7pH4zIw3dOBcX53U15cq0J-dAg39fVRh7y3wq-be7zZEjBbuxQQYr3qfS3IH8ZFZdIqCwAp3_gCrDf1uRgSPsRWgmIETRAQOhxt4mr0wNaZr_CJH9haD_ixftpDV3H1NjhXQuCJwjVi_bhLBul_RTqUxNnVHHhqfJRtwcYgUVj1plP_lMkt65j33hK2jzSAzQOqqpf_YdI3uR4WMs0209sp5GWzawkcuqwESdz0_uxkmTFnkJ3i7SwXBSvT6EKiaZPQrqgucof&amp;csui=3"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Reliability in cloud computing refers to the ability of cloud services to consistently perform as expected, ensuring users can access their data and applications without interruptions or failures.</a:t>
            </a:r>
            <a:endParaRPr lang="en-US" dirty="0"/>
          </a:p>
        </p:txBody>
      </p:sp>
      <p:sp>
        <p:nvSpPr>
          <p:cNvPr id="4" name="Slide Number Placeholder 3"/>
          <p:cNvSpPr>
            <a:spLocks noGrp="1"/>
          </p:cNvSpPr>
          <p:nvPr>
            <p:ph type="sldNum" sz="quarter" idx="5"/>
          </p:nvPr>
        </p:nvSpPr>
        <p:spPr/>
        <p:txBody>
          <a:bodyPr/>
          <a:lstStyle/>
          <a:p>
            <a:fld id="{1E59EB9B-6A40-4703-9765-7B9B7AF9DB80}" type="slidenum">
              <a:rPr lang="en-US" smtClean="0"/>
              <a:t>2</a:t>
            </a:fld>
            <a:endParaRPr lang="en-US"/>
          </a:p>
        </p:txBody>
      </p:sp>
    </p:spTree>
    <p:extLst>
      <p:ext uri="{BB962C8B-B14F-4D97-AF65-F5344CB8AC3E}">
        <p14:creationId xmlns:p14="http://schemas.microsoft.com/office/powerpoint/2010/main" val="2514642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Tightly coupled components are highly interdependent parts of a system where changes in one component can significantly affect others, leading to reduced flexibility and increased complexity.</a:t>
            </a:r>
            <a:endParaRPr lang="en-US" dirty="0"/>
          </a:p>
        </p:txBody>
      </p:sp>
      <p:sp>
        <p:nvSpPr>
          <p:cNvPr id="4" name="Slide Number Placeholder 3"/>
          <p:cNvSpPr>
            <a:spLocks noGrp="1"/>
          </p:cNvSpPr>
          <p:nvPr>
            <p:ph type="sldNum" sz="quarter" idx="5"/>
          </p:nvPr>
        </p:nvSpPr>
        <p:spPr/>
        <p:txBody>
          <a:bodyPr/>
          <a:lstStyle/>
          <a:p>
            <a:fld id="{1E59EB9B-6A40-4703-9765-7B9B7AF9DB80}" type="slidenum">
              <a:rPr lang="en-US" smtClean="0"/>
              <a:t>4</a:t>
            </a:fld>
            <a:endParaRPr lang="en-US"/>
          </a:p>
        </p:txBody>
      </p:sp>
    </p:spTree>
    <p:extLst>
      <p:ext uri="{BB962C8B-B14F-4D97-AF65-F5344CB8AC3E}">
        <p14:creationId xmlns:p14="http://schemas.microsoft.com/office/powerpoint/2010/main" val="1938874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hlinkClick r:id="rId3"/>
              </a:rPr>
              <a:t>Cloud redundancy</a:t>
            </a:r>
            <a:r>
              <a:rPr lang="en-US" sz="1200" b="0" i="0" kern="1200" dirty="0">
                <a:solidFill>
                  <a:schemeClr val="tx1"/>
                </a:solidFill>
                <a:effectLst/>
                <a:latin typeface="+mn-lt"/>
                <a:ea typeface="+mn-ea"/>
                <a:cs typeface="+mn-cs"/>
              </a:rPr>
              <a:t> is </a:t>
            </a:r>
            <a:r>
              <a:rPr lang="en-US" dirty="0"/>
              <a:t>duplicating critical IT assets (data, servers, networks) across multiple locations or instances to ensure continuous availability and rapid recovery from failures</a:t>
            </a:r>
            <a:r>
              <a:rPr lang="en-US" sz="1200" b="0" i="0" kern="1200" dirty="0">
                <a:solidFill>
                  <a:schemeClr val="tx1"/>
                </a:solidFill>
                <a:effectLst/>
                <a:latin typeface="+mn-lt"/>
                <a:ea typeface="+mn-ea"/>
                <a:cs typeface="+mn-cs"/>
              </a:rPr>
              <a:t>, using techniques like data replication, failover systems, and multi-region deployments to prevent downtime from hardware issues, disasters, or cyberattacks. It's the core of building resilient, highly available cloud architectures. </a:t>
            </a:r>
            <a:endParaRPr lang="en-US" dirty="0"/>
          </a:p>
        </p:txBody>
      </p:sp>
      <p:sp>
        <p:nvSpPr>
          <p:cNvPr id="4" name="Slide Number Placeholder 3"/>
          <p:cNvSpPr>
            <a:spLocks noGrp="1"/>
          </p:cNvSpPr>
          <p:nvPr>
            <p:ph type="sldNum" sz="quarter" idx="5"/>
          </p:nvPr>
        </p:nvSpPr>
        <p:spPr/>
        <p:txBody>
          <a:bodyPr/>
          <a:lstStyle/>
          <a:p>
            <a:fld id="{1E59EB9B-6A40-4703-9765-7B9B7AF9DB80}" type="slidenum">
              <a:rPr lang="en-US" smtClean="0"/>
              <a:t>8</a:t>
            </a:fld>
            <a:endParaRPr lang="en-US"/>
          </a:p>
        </p:txBody>
      </p:sp>
    </p:spTree>
    <p:extLst>
      <p:ext uri="{BB962C8B-B14F-4D97-AF65-F5344CB8AC3E}">
        <p14:creationId xmlns:p14="http://schemas.microsoft.com/office/powerpoint/2010/main" val="793020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cloud-native development heavily relies on automation and orchestration to build, deploy, and manage scalable, resilient applications using microservices, containers (like Docker), and orchestrators (like Kubernetes) for tasks like scaling, healing, and updates, enabling speed, efficiency, and agility in modern cloud environments</a:t>
            </a:r>
          </a:p>
        </p:txBody>
      </p:sp>
      <p:sp>
        <p:nvSpPr>
          <p:cNvPr id="4" name="Slide Number Placeholder 3"/>
          <p:cNvSpPr>
            <a:spLocks noGrp="1"/>
          </p:cNvSpPr>
          <p:nvPr>
            <p:ph type="sldNum" sz="quarter" idx="5"/>
          </p:nvPr>
        </p:nvSpPr>
        <p:spPr/>
        <p:txBody>
          <a:bodyPr/>
          <a:lstStyle/>
          <a:p>
            <a:fld id="{1E59EB9B-6A40-4703-9765-7B9B7AF9DB80}" type="slidenum">
              <a:rPr lang="en-US" smtClean="0"/>
              <a:t>9</a:t>
            </a:fld>
            <a:endParaRPr lang="en-US"/>
          </a:p>
        </p:txBody>
      </p:sp>
    </p:spTree>
    <p:extLst>
      <p:ext uri="{BB962C8B-B14F-4D97-AF65-F5344CB8AC3E}">
        <p14:creationId xmlns:p14="http://schemas.microsoft.com/office/powerpoint/2010/main" val="850934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Fault isolation in cloud computing is </a:t>
            </a:r>
            <a:r>
              <a:rPr lang="en-US" dirty="0"/>
              <a:t>designing systems to contain failures within specific boundaries, preventing a single component's failure (like a microservice or container) from causing a cascading system collapse</a:t>
            </a:r>
            <a:r>
              <a:rPr lang="en-US" sz="1200" b="0" i="0" kern="1200" dirty="0">
                <a:solidFill>
                  <a:schemeClr val="tx1"/>
                </a:solidFill>
                <a:effectLst/>
                <a:latin typeface="+mn-lt"/>
                <a:ea typeface="+mn-ea"/>
                <a:cs typeface="+mn-cs"/>
              </a:rPr>
              <a:t>, achieved through techniques like </a:t>
            </a:r>
            <a:r>
              <a:rPr lang="en-US" sz="1200" b="0" i="0" kern="1200" dirty="0">
                <a:solidFill>
                  <a:schemeClr val="tx1"/>
                </a:solidFill>
                <a:effectLst/>
                <a:latin typeface="+mn-lt"/>
                <a:ea typeface="+mn-ea"/>
                <a:cs typeface="+mn-cs"/>
                <a:hlinkClick r:id="rId3"/>
              </a:rPr>
              <a:t>microservices</a:t>
            </a:r>
            <a:r>
              <a:rPr lang="en-US"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hlinkClick r:id="rId4"/>
              </a:rPr>
              <a:t>containerization</a:t>
            </a:r>
            <a:r>
              <a:rPr lang="en-US"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hlinkClick r:id="rId5"/>
              </a:rPr>
              <a:t>event queues</a:t>
            </a:r>
            <a:r>
              <a:rPr lang="en-US"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hlinkClick r:id="rId6"/>
              </a:rPr>
              <a:t>resource partitioning</a:t>
            </a:r>
            <a:r>
              <a:rPr lang="en-US" sz="1200" b="0" i="0" kern="1200" dirty="0">
                <a:solidFill>
                  <a:schemeClr val="tx1"/>
                </a:solidFill>
                <a:effectLst/>
                <a:latin typeface="+mn-lt"/>
                <a:ea typeface="+mn-ea"/>
                <a:cs typeface="+mn-cs"/>
              </a:rPr>
              <a:t>, and </a:t>
            </a:r>
            <a:r>
              <a:rPr lang="en-US" sz="1200" b="0" i="0" kern="1200" dirty="0">
                <a:solidFill>
                  <a:schemeClr val="tx1"/>
                </a:solidFill>
                <a:effectLst/>
                <a:latin typeface="+mn-lt"/>
                <a:ea typeface="+mn-ea"/>
                <a:cs typeface="+mn-cs"/>
                <a:hlinkClick r:id="rId7"/>
              </a:rPr>
              <a:t>redundancy</a:t>
            </a:r>
            <a:r>
              <a:rPr lang="en-US" sz="1200" b="0" i="0" kern="1200" dirty="0">
                <a:solidFill>
                  <a:schemeClr val="tx1"/>
                </a:solidFill>
                <a:effectLst/>
                <a:latin typeface="+mn-lt"/>
                <a:ea typeface="+mn-ea"/>
                <a:cs typeface="+mn-cs"/>
              </a:rPr>
              <a:t>, ensuring resilience and high availability for the overall application. </a:t>
            </a:r>
            <a:endParaRPr lang="en-US" dirty="0"/>
          </a:p>
        </p:txBody>
      </p:sp>
      <p:sp>
        <p:nvSpPr>
          <p:cNvPr id="4" name="Slide Number Placeholder 3"/>
          <p:cNvSpPr>
            <a:spLocks noGrp="1"/>
          </p:cNvSpPr>
          <p:nvPr>
            <p:ph type="sldNum" sz="quarter" idx="5"/>
          </p:nvPr>
        </p:nvSpPr>
        <p:spPr/>
        <p:txBody>
          <a:bodyPr/>
          <a:lstStyle/>
          <a:p>
            <a:fld id="{1E59EB9B-6A40-4703-9765-7B9B7AF9DB80}" type="slidenum">
              <a:rPr lang="en-US" smtClean="0"/>
              <a:t>13</a:t>
            </a:fld>
            <a:endParaRPr lang="en-US"/>
          </a:p>
        </p:txBody>
      </p:sp>
    </p:spTree>
    <p:extLst>
      <p:ext uri="{BB962C8B-B14F-4D97-AF65-F5344CB8AC3E}">
        <p14:creationId xmlns:p14="http://schemas.microsoft.com/office/powerpoint/2010/main" val="860850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Use of Images and Containers</a:t>
            </a:r>
            <a:r>
              <a:rPr lang="en-US" sz="1200" b="0" i="0" kern="1200" dirty="0">
                <a:solidFill>
                  <a:schemeClr val="tx1"/>
                </a:solidFill>
                <a:effectLst/>
                <a:latin typeface="+mn-lt"/>
                <a:ea typeface="+mn-ea"/>
                <a:cs typeface="+mn-cs"/>
              </a:rPr>
              <a:t>: Applications and their dependencies are packaged into immutable "images," which are then run as "containers," ensuring consistency across different environments.</a:t>
            </a:r>
          </a:p>
          <a:p>
            <a:endParaRPr lang="en-US" dirty="0"/>
          </a:p>
        </p:txBody>
      </p:sp>
      <p:sp>
        <p:nvSpPr>
          <p:cNvPr id="4" name="Slide Number Placeholder 3"/>
          <p:cNvSpPr>
            <a:spLocks noGrp="1"/>
          </p:cNvSpPr>
          <p:nvPr>
            <p:ph type="sldNum" sz="quarter" idx="5"/>
          </p:nvPr>
        </p:nvSpPr>
        <p:spPr/>
        <p:txBody>
          <a:bodyPr/>
          <a:lstStyle/>
          <a:p>
            <a:fld id="{1E59EB9B-6A40-4703-9765-7B9B7AF9DB80}" type="slidenum">
              <a:rPr lang="en-US" smtClean="0"/>
              <a:t>24</a:t>
            </a:fld>
            <a:endParaRPr lang="en-US"/>
          </a:p>
        </p:txBody>
      </p:sp>
    </p:spTree>
    <p:extLst>
      <p:ext uri="{BB962C8B-B14F-4D97-AF65-F5344CB8AC3E}">
        <p14:creationId xmlns:p14="http://schemas.microsoft.com/office/powerpoint/2010/main" val="2689308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0967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31887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938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9286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179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38775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12/30/2025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91373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12/30/2025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68272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8760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9390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1358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12/30/2025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3723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Unit 4: Application Development in the Cloud</a:t>
            </a:r>
          </a:p>
        </p:txBody>
      </p:sp>
      <p:sp>
        <p:nvSpPr>
          <p:cNvPr id="3" name="Content Placeholder 2"/>
          <p:cNvSpPr>
            <a:spLocks noGrp="1"/>
          </p:cNvSpPr>
          <p:nvPr>
            <p:ph idx="1"/>
          </p:nvPr>
        </p:nvSpPr>
        <p:spPr/>
        <p:txBody>
          <a:bodyPr/>
          <a:lstStyle/>
          <a:p>
            <a:r>
              <a:t>Cloud-Native Development</a:t>
            </a:r>
          </a:p>
          <a:p>
            <a:r>
              <a:t>Containers</a:t>
            </a:r>
          </a:p>
          <a:p>
            <a:r>
              <a:t>Kubernetes</a:t>
            </a:r>
          </a:p>
          <a:p>
            <a:r>
              <a:t>Practical Deployment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Cloud Application Development?</a:t>
            </a:r>
          </a:p>
        </p:txBody>
      </p:sp>
      <p:sp>
        <p:nvSpPr>
          <p:cNvPr id="3" name="Content Placeholder 2"/>
          <p:cNvSpPr>
            <a:spLocks noGrp="1"/>
          </p:cNvSpPr>
          <p:nvPr>
            <p:ph idx="1"/>
          </p:nvPr>
        </p:nvSpPr>
        <p:spPr/>
        <p:txBody>
          <a:bodyPr/>
          <a:lstStyle/>
          <a:p>
            <a:r>
              <a:rPr dirty="0"/>
              <a:t>Building applications for cloud platforms</a:t>
            </a:r>
          </a:p>
          <a:p>
            <a:r>
              <a:rPr dirty="0"/>
              <a:t>Uses cloud infrastructure and services</a:t>
            </a:r>
          </a:p>
          <a:p>
            <a:r>
              <a:rPr dirty="0"/>
              <a:t>Focus on scalability and reliability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Need for Cloud-Based Applications</a:t>
            </a:r>
          </a:p>
        </p:txBody>
      </p:sp>
      <p:sp>
        <p:nvSpPr>
          <p:cNvPr id="3" name="Content Placeholder 2"/>
          <p:cNvSpPr>
            <a:spLocks noGrp="1"/>
          </p:cNvSpPr>
          <p:nvPr>
            <p:ph idx="1"/>
          </p:nvPr>
        </p:nvSpPr>
        <p:spPr/>
        <p:txBody>
          <a:bodyPr/>
          <a:lstStyle/>
          <a:p>
            <a:r>
              <a:rPr dirty="0"/>
              <a:t>Growing user demand</a:t>
            </a:r>
          </a:p>
          <a:p>
            <a:r>
              <a:rPr dirty="0"/>
              <a:t>Elastic resource usage</a:t>
            </a:r>
          </a:p>
          <a:p>
            <a:r>
              <a:rPr dirty="0"/>
              <a:t>Cost efficiency</a:t>
            </a:r>
          </a:p>
          <a:p>
            <a:r>
              <a:rPr dirty="0"/>
              <a:t>High availability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Traditional Application Architecture</a:t>
            </a:r>
          </a:p>
        </p:txBody>
      </p:sp>
      <p:sp>
        <p:nvSpPr>
          <p:cNvPr id="3" name="Content Placeholder 2"/>
          <p:cNvSpPr>
            <a:spLocks noGrp="1"/>
          </p:cNvSpPr>
          <p:nvPr>
            <p:ph idx="1"/>
          </p:nvPr>
        </p:nvSpPr>
        <p:spPr/>
        <p:txBody>
          <a:bodyPr/>
          <a:lstStyle/>
          <a:p>
            <a:r>
              <a:rPr dirty="0"/>
              <a:t>Monolithic structure</a:t>
            </a:r>
          </a:p>
          <a:p>
            <a:r>
              <a:rPr dirty="0"/>
              <a:t>Single deployment unit</a:t>
            </a:r>
          </a:p>
          <a:p>
            <a:r>
              <a:rPr dirty="0"/>
              <a:t>Difficult to scale</a:t>
            </a:r>
          </a:p>
          <a:p>
            <a:r>
              <a:rPr dirty="0"/>
              <a:t>Tightly coupled components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64B15-7DAE-FDF2-1BDA-E2D650988086}"/>
              </a:ext>
            </a:extLst>
          </p:cNvPr>
          <p:cNvSpPr>
            <a:spLocks noGrp="1"/>
          </p:cNvSpPr>
          <p:nvPr>
            <p:ph type="title"/>
          </p:nvPr>
        </p:nvSpPr>
        <p:spPr/>
        <p:txBody>
          <a:bodyPr/>
          <a:lstStyle/>
          <a:p>
            <a:r>
              <a:rPr lang="en-US" dirty="0"/>
              <a:t>Monolithic Vs Microservice</a:t>
            </a:r>
          </a:p>
        </p:txBody>
      </p:sp>
      <p:pic>
        <p:nvPicPr>
          <p:cNvPr id="1026" name="Picture 2">
            <a:extLst>
              <a:ext uri="{FF2B5EF4-FFF2-40B4-BE49-F238E27FC236}">
                <a16:creationId xmlns:a16="http://schemas.microsoft.com/office/drawing/2014/main" id="{FC918BC4-A67F-661C-9861-ACC72BB82F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18469" y="1846263"/>
            <a:ext cx="7151511"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8238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 of Traditional Applications</a:t>
            </a:r>
          </a:p>
        </p:txBody>
      </p:sp>
      <p:sp>
        <p:nvSpPr>
          <p:cNvPr id="3" name="Content Placeholder 2"/>
          <p:cNvSpPr>
            <a:spLocks noGrp="1"/>
          </p:cNvSpPr>
          <p:nvPr>
            <p:ph idx="1"/>
          </p:nvPr>
        </p:nvSpPr>
        <p:spPr/>
        <p:txBody>
          <a:bodyPr/>
          <a:lstStyle/>
          <a:p>
            <a:r>
              <a:t>Slow updates</a:t>
            </a:r>
          </a:p>
          <a:p>
            <a:r>
              <a:t>High downtime</a:t>
            </a:r>
          </a:p>
          <a:p>
            <a:r>
              <a:t>Limited scalability</a:t>
            </a:r>
          </a:p>
          <a:p>
            <a:r>
              <a:t>Complex maintenance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Cloud-Native Application Architecture</a:t>
            </a:r>
          </a:p>
        </p:txBody>
      </p:sp>
      <p:sp>
        <p:nvSpPr>
          <p:cNvPr id="3" name="Content Placeholder 2"/>
          <p:cNvSpPr>
            <a:spLocks noGrp="1"/>
          </p:cNvSpPr>
          <p:nvPr>
            <p:ph idx="1"/>
          </p:nvPr>
        </p:nvSpPr>
        <p:spPr/>
        <p:txBody>
          <a:bodyPr/>
          <a:lstStyle/>
          <a:p>
            <a:r>
              <a:rPr dirty="0"/>
              <a:t>Microservices-based</a:t>
            </a:r>
          </a:p>
          <a:p>
            <a:r>
              <a:rPr dirty="0"/>
              <a:t>Independent services</a:t>
            </a:r>
          </a:p>
          <a:p>
            <a:r>
              <a:rPr dirty="0"/>
              <a:t>Automated deployment</a:t>
            </a:r>
          </a:p>
          <a:p>
            <a:r>
              <a:rPr dirty="0"/>
              <a:t>Resilient design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E8DDF-B16B-A612-BB20-67EEFD03C888}"/>
              </a:ext>
            </a:extLst>
          </p:cNvPr>
          <p:cNvSpPr>
            <a:spLocks noGrp="1"/>
          </p:cNvSpPr>
          <p:nvPr>
            <p:ph type="title"/>
          </p:nvPr>
        </p:nvSpPr>
        <p:spPr/>
        <p:txBody>
          <a:bodyPr/>
          <a:lstStyle/>
          <a:p>
            <a:r>
              <a:rPr lang="en-US" dirty="0"/>
              <a:t>Resiliency in Cloud Computing</a:t>
            </a:r>
          </a:p>
        </p:txBody>
      </p:sp>
      <p:pic>
        <p:nvPicPr>
          <p:cNvPr id="2050" name="Picture 2">
            <a:extLst>
              <a:ext uri="{FF2B5EF4-FFF2-40B4-BE49-F238E27FC236}">
                <a16:creationId xmlns:a16="http://schemas.microsoft.com/office/drawing/2014/main" id="{26EBEB2C-DACE-6FED-3F80-8344819C22A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73772" y="1846263"/>
            <a:ext cx="7240905"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522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Cloud-Native Development Explained</a:t>
            </a:r>
          </a:p>
        </p:txBody>
      </p:sp>
      <p:sp>
        <p:nvSpPr>
          <p:cNvPr id="3" name="Content Placeholder 2"/>
          <p:cNvSpPr>
            <a:spLocks noGrp="1"/>
          </p:cNvSpPr>
          <p:nvPr>
            <p:ph idx="1"/>
          </p:nvPr>
        </p:nvSpPr>
        <p:spPr/>
        <p:txBody>
          <a:bodyPr/>
          <a:lstStyle/>
          <a:p>
            <a:r>
              <a:rPr dirty="0"/>
              <a:t>Applications designed specifically for cloud</a:t>
            </a:r>
          </a:p>
          <a:p>
            <a:r>
              <a:rPr dirty="0"/>
              <a:t>Uses automation and orchestration</a:t>
            </a:r>
          </a:p>
          <a:p>
            <a:r>
              <a:rPr dirty="0"/>
              <a:t>Optimized for distributed systems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Principles of Cloud-Native Development</a:t>
            </a:r>
          </a:p>
        </p:txBody>
      </p:sp>
      <p:sp>
        <p:nvSpPr>
          <p:cNvPr id="3" name="Content Placeholder 2"/>
          <p:cNvSpPr>
            <a:spLocks noGrp="1"/>
          </p:cNvSpPr>
          <p:nvPr>
            <p:ph idx="1"/>
          </p:nvPr>
        </p:nvSpPr>
        <p:spPr/>
        <p:txBody>
          <a:bodyPr/>
          <a:lstStyle/>
          <a:p>
            <a:r>
              <a:t>Loose coupling</a:t>
            </a:r>
          </a:p>
          <a:p>
            <a:r>
              <a:t>Scalability</a:t>
            </a:r>
          </a:p>
          <a:p>
            <a:r>
              <a:t>Resilience</a:t>
            </a:r>
          </a:p>
          <a:p>
            <a:r>
              <a:t>Automation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Microservices Architecture</a:t>
            </a:r>
          </a:p>
        </p:txBody>
      </p:sp>
      <p:sp>
        <p:nvSpPr>
          <p:cNvPr id="3" name="Content Placeholder 2"/>
          <p:cNvSpPr>
            <a:spLocks noGrp="1"/>
          </p:cNvSpPr>
          <p:nvPr>
            <p:ph idx="1"/>
          </p:nvPr>
        </p:nvSpPr>
        <p:spPr/>
        <p:txBody>
          <a:bodyPr/>
          <a:lstStyle/>
          <a:p>
            <a:r>
              <a:t>Application divided into small services</a:t>
            </a:r>
          </a:p>
          <a:p>
            <a:r>
              <a:t>Each service handles one function</a:t>
            </a:r>
          </a:p>
          <a:p>
            <a:r>
              <a:t>Independent deployment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Microservices Example</a:t>
            </a:r>
          </a:p>
        </p:txBody>
      </p:sp>
      <p:sp>
        <p:nvSpPr>
          <p:cNvPr id="3" name="Content Placeholder 2"/>
          <p:cNvSpPr>
            <a:spLocks noGrp="1"/>
          </p:cNvSpPr>
          <p:nvPr>
            <p:ph idx="1"/>
          </p:nvPr>
        </p:nvSpPr>
        <p:spPr/>
        <p:txBody>
          <a:bodyPr/>
          <a:lstStyle/>
          <a:p>
            <a:r>
              <a:t>User Service</a:t>
            </a:r>
          </a:p>
          <a:p>
            <a:r>
              <a:t>Order Service</a:t>
            </a:r>
          </a:p>
          <a:p>
            <a:r>
              <a:t>Payment Service</a:t>
            </a:r>
          </a:p>
          <a:p>
            <a:r>
              <a:t>Inventory Service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 of Microservices</a:t>
            </a:r>
          </a:p>
        </p:txBody>
      </p:sp>
      <p:sp>
        <p:nvSpPr>
          <p:cNvPr id="3" name="Content Placeholder 2"/>
          <p:cNvSpPr>
            <a:spLocks noGrp="1"/>
          </p:cNvSpPr>
          <p:nvPr>
            <p:ph idx="1"/>
          </p:nvPr>
        </p:nvSpPr>
        <p:spPr/>
        <p:txBody>
          <a:bodyPr/>
          <a:lstStyle/>
          <a:p>
            <a:r>
              <a:rPr dirty="0"/>
              <a:t>Independent scaling</a:t>
            </a:r>
          </a:p>
          <a:p>
            <a:r>
              <a:rPr dirty="0"/>
              <a:t>Faster development cycles</a:t>
            </a:r>
          </a:p>
          <a:p>
            <a:r>
              <a:rPr dirty="0"/>
              <a:t>Fault isolation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of Microservices</a:t>
            </a:r>
          </a:p>
        </p:txBody>
      </p:sp>
      <p:sp>
        <p:nvSpPr>
          <p:cNvPr id="3" name="Content Placeholder 2"/>
          <p:cNvSpPr>
            <a:spLocks noGrp="1"/>
          </p:cNvSpPr>
          <p:nvPr>
            <p:ph idx="1"/>
          </p:nvPr>
        </p:nvSpPr>
        <p:spPr/>
        <p:txBody>
          <a:bodyPr/>
          <a:lstStyle/>
          <a:p>
            <a:r>
              <a:t>Increased complexity</a:t>
            </a:r>
          </a:p>
          <a:p>
            <a:r>
              <a:t>Service communication</a:t>
            </a:r>
          </a:p>
          <a:p>
            <a:r>
              <a:t>Monitoring overhead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Communication Between Services</a:t>
            </a:r>
          </a:p>
        </p:txBody>
      </p:sp>
      <p:sp>
        <p:nvSpPr>
          <p:cNvPr id="3" name="Content Placeholder 2"/>
          <p:cNvSpPr>
            <a:spLocks noGrp="1"/>
          </p:cNvSpPr>
          <p:nvPr>
            <p:ph idx="1"/>
          </p:nvPr>
        </p:nvSpPr>
        <p:spPr/>
        <p:txBody>
          <a:bodyPr/>
          <a:lstStyle/>
          <a:p>
            <a:r>
              <a:rPr dirty="0"/>
              <a:t>REST APIs</a:t>
            </a:r>
          </a:p>
          <a:p>
            <a:r>
              <a:rPr dirty="0" err="1"/>
              <a:t>gRPC</a:t>
            </a:r>
            <a:endParaRPr dirty="0"/>
          </a:p>
          <a:p>
            <a:r>
              <a:rPr dirty="0"/>
              <a:t>Message queues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Scalability in Cloud Applications</a:t>
            </a:r>
          </a:p>
        </p:txBody>
      </p:sp>
      <p:sp>
        <p:nvSpPr>
          <p:cNvPr id="3" name="Content Placeholder 2"/>
          <p:cNvSpPr>
            <a:spLocks noGrp="1"/>
          </p:cNvSpPr>
          <p:nvPr>
            <p:ph idx="1"/>
          </p:nvPr>
        </p:nvSpPr>
        <p:spPr/>
        <p:txBody>
          <a:bodyPr/>
          <a:lstStyle/>
          <a:p>
            <a:r>
              <a:rPr dirty="0"/>
              <a:t>Ability to handle variable loads</a:t>
            </a:r>
          </a:p>
          <a:p>
            <a:r>
              <a:rPr dirty="0"/>
              <a:t>Horizontal scaling preferred</a:t>
            </a:r>
          </a:p>
          <a:p>
            <a:r>
              <a:rPr dirty="0"/>
              <a:t>Automatic scaling supported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0E0AA-5105-879D-53B9-EF96C9CAC58F}"/>
              </a:ext>
            </a:extLst>
          </p:cNvPr>
          <p:cNvSpPr>
            <a:spLocks noGrp="1"/>
          </p:cNvSpPr>
          <p:nvPr>
            <p:ph type="title"/>
          </p:nvPr>
        </p:nvSpPr>
        <p:spPr/>
        <p:txBody>
          <a:bodyPr/>
          <a:lstStyle/>
          <a:p>
            <a:r>
              <a:rPr lang="en-US" dirty="0"/>
              <a:t>Scaling</a:t>
            </a:r>
          </a:p>
        </p:txBody>
      </p:sp>
      <p:pic>
        <p:nvPicPr>
          <p:cNvPr id="3074" name="Picture 2">
            <a:extLst>
              <a:ext uri="{FF2B5EF4-FFF2-40B4-BE49-F238E27FC236}">
                <a16:creationId xmlns:a16="http://schemas.microsoft.com/office/drawing/2014/main" id="{F495B6A8-BC38-5D7D-02E7-E21341B0E32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3772" y="1846263"/>
            <a:ext cx="7240905"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0467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Resilience and Fault Tolerance</a:t>
            </a:r>
          </a:p>
        </p:txBody>
      </p:sp>
      <p:sp>
        <p:nvSpPr>
          <p:cNvPr id="3" name="Content Placeholder 2"/>
          <p:cNvSpPr>
            <a:spLocks noGrp="1"/>
          </p:cNvSpPr>
          <p:nvPr>
            <p:ph idx="1"/>
          </p:nvPr>
        </p:nvSpPr>
        <p:spPr/>
        <p:txBody>
          <a:bodyPr/>
          <a:lstStyle/>
          <a:p>
            <a:r>
              <a:t>Automatic recovery from failures</a:t>
            </a:r>
          </a:p>
          <a:p>
            <a:r>
              <a:t>Service redundancy</a:t>
            </a:r>
          </a:p>
          <a:p>
            <a:r>
              <a:t>Minimal downtime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Containers</a:t>
            </a:r>
          </a:p>
        </p:txBody>
      </p:sp>
      <p:sp>
        <p:nvSpPr>
          <p:cNvPr id="3" name="Content Placeholder 2"/>
          <p:cNvSpPr>
            <a:spLocks noGrp="1"/>
          </p:cNvSpPr>
          <p:nvPr>
            <p:ph idx="1"/>
          </p:nvPr>
        </p:nvSpPr>
        <p:spPr/>
        <p:txBody>
          <a:bodyPr/>
          <a:lstStyle/>
          <a:p>
            <a:r>
              <a:t>Lightweight execution environments</a:t>
            </a:r>
          </a:p>
          <a:p>
            <a:r>
              <a:t>Package application with dependencies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Containers Are Needed</a:t>
            </a:r>
          </a:p>
        </p:txBody>
      </p:sp>
      <p:sp>
        <p:nvSpPr>
          <p:cNvPr id="3" name="Content Placeholder 2"/>
          <p:cNvSpPr>
            <a:spLocks noGrp="1"/>
          </p:cNvSpPr>
          <p:nvPr>
            <p:ph idx="1"/>
          </p:nvPr>
        </p:nvSpPr>
        <p:spPr/>
        <p:txBody>
          <a:bodyPr/>
          <a:lstStyle/>
          <a:p>
            <a:r>
              <a:rPr dirty="0"/>
              <a:t>Environment consistency</a:t>
            </a:r>
          </a:p>
          <a:p>
            <a:r>
              <a:rPr dirty="0"/>
              <a:t>Portability</a:t>
            </a:r>
          </a:p>
          <a:p>
            <a:r>
              <a:rPr dirty="0"/>
              <a:t>Faster deployments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Container Components</a:t>
            </a:r>
          </a:p>
        </p:txBody>
      </p:sp>
      <p:sp>
        <p:nvSpPr>
          <p:cNvPr id="3" name="Content Placeholder 2"/>
          <p:cNvSpPr>
            <a:spLocks noGrp="1"/>
          </p:cNvSpPr>
          <p:nvPr>
            <p:ph idx="1"/>
          </p:nvPr>
        </p:nvSpPr>
        <p:spPr/>
        <p:txBody>
          <a:bodyPr/>
          <a:lstStyle/>
          <a:p>
            <a:r>
              <a:t>Application code</a:t>
            </a:r>
          </a:p>
          <a:p>
            <a:r>
              <a:t>Runtime</a:t>
            </a:r>
          </a:p>
          <a:p>
            <a:r>
              <a:t>Libraries</a:t>
            </a:r>
          </a:p>
          <a:p>
            <a:r>
              <a:t>System tools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Containers vs Virtual Machines</a:t>
            </a:r>
          </a:p>
        </p:txBody>
      </p:sp>
      <p:sp>
        <p:nvSpPr>
          <p:cNvPr id="3" name="Content Placeholder 2"/>
          <p:cNvSpPr>
            <a:spLocks noGrp="1"/>
          </p:cNvSpPr>
          <p:nvPr>
            <p:ph idx="1"/>
          </p:nvPr>
        </p:nvSpPr>
        <p:spPr/>
        <p:txBody>
          <a:bodyPr/>
          <a:lstStyle/>
          <a:p>
            <a:r>
              <a:t>Containers share OS kernel</a:t>
            </a:r>
          </a:p>
          <a:p>
            <a:r>
              <a:t>Virtual machines use full OS</a:t>
            </a:r>
          </a:p>
          <a:p>
            <a:r>
              <a:t>Containers are lightweight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D468A-18BD-A5A9-1C4F-22880BFCA4C9}"/>
              </a:ext>
            </a:extLst>
          </p:cNvPr>
          <p:cNvSpPr>
            <a:spLocks noGrp="1"/>
          </p:cNvSpPr>
          <p:nvPr>
            <p:ph type="title"/>
          </p:nvPr>
        </p:nvSpPr>
        <p:spPr/>
        <p:txBody>
          <a:bodyPr/>
          <a:lstStyle/>
          <a:p>
            <a:r>
              <a:rPr lang="en-US" dirty="0"/>
              <a:t>Containers vs VM</a:t>
            </a:r>
          </a:p>
        </p:txBody>
      </p:sp>
      <p:sp>
        <p:nvSpPr>
          <p:cNvPr id="3" name="Content Placeholder 2">
            <a:extLst>
              <a:ext uri="{FF2B5EF4-FFF2-40B4-BE49-F238E27FC236}">
                <a16:creationId xmlns:a16="http://schemas.microsoft.com/office/drawing/2014/main" id="{C1255A5D-87E5-9F04-A049-53FAF4DB0433}"/>
              </a:ext>
            </a:extLst>
          </p:cNvPr>
          <p:cNvSpPr>
            <a:spLocks noGrp="1"/>
          </p:cNvSpPr>
          <p:nvPr>
            <p:ph idx="1"/>
          </p:nvPr>
        </p:nvSpPr>
        <p:spPr/>
        <p:txBody>
          <a:bodyPr/>
          <a:lstStyle/>
          <a:p>
            <a:endParaRPr lang="en-US"/>
          </a:p>
        </p:txBody>
      </p:sp>
      <p:pic>
        <p:nvPicPr>
          <p:cNvPr id="5" name="Picture 4" descr="A diagram of applications and virtual machine&#10;&#10;AI-generated content may be incorrect.">
            <a:extLst>
              <a:ext uri="{FF2B5EF4-FFF2-40B4-BE49-F238E27FC236}">
                <a16:creationId xmlns:a16="http://schemas.microsoft.com/office/drawing/2014/main" id="{B30AE08B-D505-27C4-9B20-C9A1F66A6054}"/>
              </a:ext>
            </a:extLst>
          </p:cNvPr>
          <p:cNvPicPr>
            <a:picLocks noChangeAspect="1"/>
          </p:cNvPicPr>
          <p:nvPr/>
        </p:nvPicPr>
        <p:blipFill>
          <a:blip r:embed="rId2"/>
          <a:stretch>
            <a:fillRect/>
          </a:stretch>
        </p:blipFill>
        <p:spPr>
          <a:xfrm>
            <a:off x="1538977" y="2163970"/>
            <a:ext cx="6066046" cy="2530059"/>
          </a:xfrm>
          <a:prstGeom prst="rect">
            <a:avLst/>
          </a:prstGeom>
        </p:spPr>
      </p:pic>
    </p:spTree>
    <p:extLst>
      <p:ext uri="{BB962C8B-B14F-4D97-AF65-F5344CB8AC3E}">
        <p14:creationId xmlns:p14="http://schemas.microsoft.com/office/powerpoint/2010/main" val="25340457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Docker Platform Overview</a:t>
            </a:r>
          </a:p>
        </p:txBody>
      </p:sp>
      <p:sp>
        <p:nvSpPr>
          <p:cNvPr id="3" name="Content Placeholder 2"/>
          <p:cNvSpPr>
            <a:spLocks noGrp="1"/>
          </p:cNvSpPr>
          <p:nvPr>
            <p:ph idx="1"/>
          </p:nvPr>
        </p:nvSpPr>
        <p:spPr/>
        <p:txBody>
          <a:bodyPr/>
          <a:lstStyle/>
          <a:p>
            <a:r>
              <a:rPr dirty="0"/>
              <a:t>Popular container platform</a:t>
            </a:r>
          </a:p>
          <a:p>
            <a:r>
              <a:rPr dirty="0"/>
              <a:t>Uses images and containers</a:t>
            </a:r>
          </a:p>
          <a:p>
            <a:r>
              <a:rPr dirty="0"/>
              <a:t>Supports DevOps workflows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Docker Image Lifecycle</a:t>
            </a:r>
          </a:p>
        </p:txBody>
      </p:sp>
      <p:sp>
        <p:nvSpPr>
          <p:cNvPr id="3" name="Content Placeholder 2"/>
          <p:cNvSpPr>
            <a:spLocks noGrp="1"/>
          </p:cNvSpPr>
          <p:nvPr>
            <p:ph idx="1"/>
          </p:nvPr>
        </p:nvSpPr>
        <p:spPr/>
        <p:txBody>
          <a:bodyPr/>
          <a:lstStyle/>
          <a:p>
            <a:r>
              <a:t>Create Dockerfile</a:t>
            </a:r>
          </a:p>
          <a:p>
            <a:r>
              <a:t>Build image</a:t>
            </a:r>
          </a:p>
          <a:p>
            <a:r>
              <a:t>Push to registry</a:t>
            </a:r>
          </a:p>
          <a:p>
            <a:r>
              <a:t>Run container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Benefits of Containers</a:t>
            </a:r>
          </a:p>
        </p:txBody>
      </p:sp>
      <p:sp>
        <p:nvSpPr>
          <p:cNvPr id="3" name="Content Placeholder 2"/>
          <p:cNvSpPr>
            <a:spLocks noGrp="1"/>
          </p:cNvSpPr>
          <p:nvPr>
            <p:ph idx="1"/>
          </p:nvPr>
        </p:nvSpPr>
        <p:spPr/>
        <p:txBody>
          <a:bodyPr/>
          <a:lstStyle/>
          <a:p>
            <a:r>
              <a:t>Fast startup</a:t>
            </a:r>
          </a:p>
          <a:p>
            <a:r>
              <a:t>Resource efficiency</a:t>
            </a:r>
          </a:p>
          <a:p>
            <a:r>
              <a:t>Easy scaling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Kubernetes</a:t>
            </a:r>
          </a:p>
        </p:txBody>
      </p:sp>
      <p:sp>
        <p:nvSpPr>
          <p:cNvPr id="3" name="Content Placeholder 2"/>
          <p:cNvSpPr>
            <a:spLocks noGrp="1"/>
          </p:cNvSpPr>
          <p:nvPr>
            <p:ph idx="1"/>
          </p:nvPr>
        </p:nvSpPr>
        <p:spPr/>
        <p:txBody>
          <a:bodyPr/>
          <a:lstStyle/>
          <a:p>
            <a:r>
              <a:t>Container orchestration system</a:t>
            </a:r>
          </a:p>
          <a:p>
            <a:r>
              <a:t>Manages large-scale container deployments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Kubernetes is Required</a:t>
            </a:r>
          </a:p>
        </p:txBody>
      </p:sp>
      <p:sp>
        <p:nvSpPr>
          <p:cNvPr id="3" name="Content Placeholder 2"/>
          <p:cNvSpPr>
            <a:spLocks noGrp="1"/>
          </p:cNvSpPr>
          <p:nvPr>
            <p:ph idx="1"/>
          </p:nvPr>
        </p:nvSpPr>
        <p:spPr/>
        <p:txBody>
          <a:bodyPr/>
          <a:lstStyle/>
          <a:p>
            <a:r>
              <a:t>Manages multiple containers</a:t>
            </a:r>
          </a:p>
          <a:p>
            <a:r>
              <a:t>Handles failures automatically</a:t>
            </a:r>
          </a:p>
          <a:p>
            <a:r>
              <a:t>Provides load balancing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Kubernetes Features</a:t>
            </a:r>
          </a:p>
        </p:txBody>
      </p:sp>
      <p:sp>
        <p:nvSpPr>
          <p:cNvPr id="3" name="Content Placeholder 2"/>
          <p:cNvSpPr>
            <a:spLocks noGrp="1"/>
          </p:cNvSpPr>
          <p:nvPr>
            <p:ph idx="1"/>
          </p:nvPr>
        </p:nvSpPr>
        <p:spPr/>
        <p:txBody>
          <a:bodyPr/>
          <a:lstStyle/>
          <a:p>
            <a:r>
              <a:t>Auto-scaling</a:t>
            </a:r>
          </a:p>
          <a:p>
            <a:r>
              <a:t>Self-healing</a:t>
            </a:r>
          </a:p>
          <a:p>
            <a:r>
              <a:t>Service discovery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Kubernetes Architecture Overview</a:t>
            </a:r>
          </a:p>
        </p:txBody>
      </p:sp>
      <p:sp>
        <p:nvSpPr>
          <p:cNvPr id="3" name="Content Placeholder 2"/>
          <p:cNvSpPr>
            <a:spLocks noGrp="1"/>
          </p:cNvSpPr>
          <p:nvPr>
            <p:ph idx="1"/>
          </p:nvPr>
        </p:nvSpPr>
        <p:spPr/>
        <p:txBody>
          <a:bodyPr/>
          <a:lstStyle/>
          <a:p>
            <a:r>
              <a:rPr dirty="0"/>
              <a:t>Control plane</a:t>
            </a:r>
          </a:p>
          <a:p>
            <a:r>
              <a:rPr dirty="0"/>
              <a:t>Worker nodes</a:t>
            </a:r>
          </a:p>
          <a:p>
            <a:r>
              <a:rPr dirty="0"/>
              <a:t>Pods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Control Plane Components</a:t>
            </a:r>
          </a:p>
        </p:txBody>
      </p:sp>
      <p:sp>
        <p:nvSpPr>
          <p:cNvPr id="3" name="Content Placeholder 2"/>
          <p:cNvSpPr>
            <a:spLocks noGrp="1"/>
          </p:cNvSpPr>
          <p:nvPr>
            <p:ph idx="1"/>
          </p:nvPr>
        </p:nvSpPr>
        <p:spPr/>
        <p:txBody>
          <a:bodyPr/>
          <a:lstStyle/>
          <a:p>
            <a:r>
              <a:t>API Server</a:t>
            </a:r>
          </a:p>
          <a:p>
            <a:r>
              <a:t>Scheduler</a:t>
            </a:r>
          </a:p>
          <a:p>
            <a:r>
              <a:t>Controller Manager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Worker Node Components</a:t>
            </a:r>
          </a:p>
        </p:txBody>
      </p:sp>
      <p:sp>
        <p:nvSpPr>
          <p:cNvPr id="3" name="Content Placeholder 2"/>
          <p:cNvSpPr>
            <a:spLocks noGrp="1"/>
          </p:cNvSpPr>
          <p:nvPr>
            <p:ph idx="1"/>
          </p:nvPr>
        </p:nvSpPr>
        <p:spPr/>
        <p:txBody>
          <a:bodyPr/>
          <a:lstStyle/>
          <a:p>
            <a:r>
              <a:t>Kubelet</a:t>
            </a:r>
          </a:p>
          <a:p>
            <a:r>
              <a:t>Container runtime</a:t>
            </a:r>
          </a:p>
          <a:p>
            <a:r>
              <a:t>Pods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Pod Explained</a:t>
            </a:r>
          </a:p>
        </p:txBody>
      </p:sp>
      <p:sp>
        <p:nvSpPr>
          <p:cNvPr id="3" name="Content Placeholder 2"/>
          <p:cNvSpPr>
            <a:spLocks noGrp="1"/>
          </p:cNvSpPr>
          <p:nvPr>
            <p:ph idx="1"/>
          </p:nvPr>
        </p:nvSpPr>
        <p:spPr/>
        <p:txBody>
          <a:bodyPr/>
          <a:lstStyle/>
          <a:p>
            <a:r>
              <a:t>Smallest deployable unit</a:t>
            </a:r>
          </a:p>
          <a:p>
            <a:r>
              <a:t>One or more containers</a:t>
            </a:r>
          </a:p>
          <a:p>
            <a:r>
              <a:t>Shared networking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Deployment Explained</a:t>
            </a:r>
          </a:p>
        </p:txBody>
      </p:sp>
      <p:sp>
        <p:nvSpPr>
          <p:cNvPr id="3" name="Content Placeholder 2"/>
          <p:cNvSpPr>
            <a:spLocks noGrp="1"/>
          </p:cNvSpPr>
          <p:nvPr>
            <p:ph idx="1"/>
          </p:nvPr>
        </p:nvSpPr>
        <p:spPr/>
        <p:txBody>
          <a:bodyPr/>
          <a:lstStyle/>
          <a:p>
            <a:r>
              <a:t>Manages replicas</a:t>
            </a:r>
          </a:p>
          <a:p>
            <a:r>
              <a:t>Ensures desired state</a:t>
            </a:r>
          </a:p>
          <a:p>
            <a:r>
              <a:t>Supports rolling updates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Kubernetes Service Explained</a:t>
            </a:r>
          </a:p>
        </p:txBody>
      </p:sp>
      <p:sp>
        <p:nvSpPr>
          <p:cNvPr id="3" name="Content Placeholder 2"/>
          <p:cNvSpPr>
            <a:spLocks noGrp="1"/>
          </p:cNvSpPr>
          <p:nvPr>
            <p:ph idx="1"/>
          </p:nvPr>
        </p:nvSpPr>
        <p:spPr/>
        <p:txBody>
          <a:bodyPr/>
          <a:lstStyle/>
          <a:p>
            <a:r>
              <a:t>Stable network endpoint</a:t>
            </a:r>
          </a:p>
          <a:p>
            <a:r>
              <a:t>Connects users to pods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Kubernetes Services</a:t>
            </a:r>
          </a:p>
        </p:txBody>
      </p:sp>
      <p:sp>
        <p:nvSpPr>
          <p:cNvPr id="3" name="Content Placeholder 2"/>
          <p:cNvSpPr>
            <a:spLocks noGrp="1"/>
          </p:cNvSpPr>
          <p:nvPr>
            <p:ph idx="1"/>
          </p:nvPr>
        </p:nvSpPr>
        <p:spPr/>
        <p:txBody>
          <a:bodyPr/>
          <a:lstStyle/>
          <a:p>
            <a:r>
              <a:t>ClusterIP</a:t>
            </a:r>
          </a:p>
          <a:p>
            <a:r>
              <a:t>NodePort</a:t>
            </a:r>
          </a:p>
          <a:p>
            <a:r>
              <a:t>LoadBalancer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Unit 4 Practical Work</a:t>
            </a:r>
          </a:p>
        </p:txBody>
      </p:sp>
      <p:sp>
        <p:nvSpPr>
          <p:cNvPr id="3" name="Content Placeholder 2"/>
          <p:cNvSpPr>
            <a:spLocks noGrp="1"/>
          </p:cNvSpPr>
          <p:nvPr>
            <p:ph idx="1"/>
          </p:nvPr>
        </p:nvSpPr>
        <p:spPr/>
        <p:txBody>
          <a:bodyPr/>
          <a:lstStyle/>
          <a:p>
            <a:r>
              <a:t>Practical 1: Cloud-native application</a:t>
            </a:r>
          </a:p>
          <a:p>
            <a:r>
              <a:t>Practical 2: Kubernetes deployment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Practical 2: Kubernetes Deployment</a:t>
            </a:r>
          </a:p>
        </p:txBody>
      </p:sp>
      <p:sp>
        <p:nvSpPr>
          <p:cNvPr id="3" name="Content Placeholder 2"/>
          <p:cNvSpPr>
            <a:spLocks noGrp="1"/>
          </p:cNvSpPr>
          <p:nvPr>
            <p:ph idx="1"/>
          </p:nvPr>
        </p:nvSpPr>
        <p:spPr/>
        <p:txBody>
          <a:bodyPr/>
          <a:lstStyle/>
          <a:p>
            <a:r>
              <a:t>Local cluster setup</a:t>
            </a:r>
          </a:p>
          <a:p>
            <a:r>
              <a:t>Deploy multi-container application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Used in Practical 2</a:t>
            </a:r>
          </a:p>
        </p:txBody>
      </p:sp>
      <p:sp>
        <p:nvSpPr>
          <p:cNvPr id="3" name="Content Placeholder 2"/>
          <p:cNvSpPr>
            <a:spLocks noGrp="1"/>
          </p:cNvSpPr>
          <p:nvPr>
            <p:ph idx="1"/>
          </p:nvPr>
        </p:nvSpPr>
        <p:spPr/>
        <p:txBody>
          <a:bodyPr/>
          <a:lstStyle/>
          <a:p>
            <a:r>
              <a:t>Docker</a:t>
            </a:r>
          </a:p>
          <a:p>
            <a:r>
              <a:t>Minikube or K3s</a:t>
            </a:r>
          </a:p>
          <a:p>
            <a:r>
              <a:t>kubectl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 Architecture for Practical 2</a:t>
            </a:r>
          </a:p>
        </p:txBody>
      </p:sp>
      <p:sp>
        <p:nvSpPr>
          <p:cNvPr id="3" name="Content Placeholder 2"/>
          <p:cNvSpPr>
            <a:spLocks noGrp="1"/>
          </p:cNvSpPr>
          <p:nvPr>
            <p:ph idx="1"/>
          </p:nvPr>
        </p:nvSpPr>
        <p:spPr/>
        <p:txBody>
          <a:bodyPr/>
          <a:lstStyle/>
          <a:p>
            <a:r>
              <a:t>Front-end service</a:t>
            </a:r>
          </a:p>
          <a:p>
            <a:r>
              <a:t>Back-end service</a:t>
            </a:r>
          </a:p>
          <a:p>
            <a:r>
              <a:t>REST communication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Deployment Workflow</a:t>
            </a:r>
          </a:p>
        </p:txBody>
      </p:sp>
      <p:sp>
        <p:nvSpPr>
          <p:cNvPr id="3" name="Content Placeholder 2"/>
          <p:cNvSpPr>
            <a:spLocks noGrp="1"/>
          </p:cNvSpPr>
          <p:nvPr>
            <p:ph idx="1"/>
          </p:nvPr>
        </p:nvSpPr>
        <p:spPr/>
        <p:txBody>
          <a:bodyPr/>
          <a:lstStyle/>
          <a:p>
            <a:r>
              <a:t>Create images</a:t>
            </a:r>
          </a:p>
          <a:p>
            <a:r>
              <a:t>Write YAML</a:t>
            </a:r>
          </a:p>
          <a:p>
            <a:r>
              <a:t>Apply configuration</a:t>
            </a:r>
          </a:p>
          <a:p>
            <a:r>
              <a:t>Verify deployment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Scaling in Kubernetes</a:t>
            </a:r>
          </a:p>
        </p:txBody>
      </p:sp>
      <p:sp>
        <p:nvSpPr>
          <p:cNvPr id="3" name="Content Placeholder 2"/>
          <p:cNvSpPr>
            <a:spLocks noGrp="1"/>
          </p:cNvSpPr>
          <p:nvPr>
            <p:ph idx="1"/>
          </p:nvPr>
        </p:nvSpPr>
        <p:spPr/>
        <p:txBody>
          <a:bodyPr/>
          <a:lstStyle/>
          <a:p>
            <a:r>
              <a:t>Increase replicas</a:t>
            </a:r>
          </a:p>
          <a:p>
            <a:r>
              <a:t>Handle higher traffic</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Self-Healing in Kubernetes</a:t>
            </a:r>
          </a:p>
        </p:txBody>
      </p:sp>
      <p:sp>
        <p:nvSpPr>
          <p:cNvPr id="3" name="Content Placeholder 2"/>
          <p:cNvSpPr>
            <a:spLocks noGrp="1"/>
          </p:cNvSpPr>
          <p:nvPr>
            <p:ph idx="1"/>
          </p:nvPr>
        </p:nvSpPr>
        <p:spPr/>
        <p:txBody>
          <a:bodyPr/>
          <a:lstStyle/>
          <a:p>
            <a:r>
              <a:t>Automatic pod restart</a:t>
            </a:r>
          </a:p>
          <a:p>
            <a:r>
              <a:t>High availability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Real-World Use Cases</a:t>
            </a:r>
          </a:p>
        </p:txBody>
      </p:sp>
      <p:sp>
        <p:nvSpPr>
          <p:cNvPr id="3" name="Content Placeholder 2"/>
          <p:cNvSpPr>
            <a:spLocks noGrp="1"/>
          </p:cNvSpPr>
          <p:nvPr>
            <p:ph idx="1"/>
          </p:nvPr>
        </p:nvSpPr>
        <p:spPr/>
        <p:txBody>
          <a:bodyPr/>
          <a:lstStyle/>
          <a:p>
            <a:r>
              <a:t>E-commerce</a:t>
            </a:r>
          </a:p>
          <a:p>
            <a:r>
              <a:t>Banking systems</a:t>
            </a:r>
          </a:p>
          <a:p>
            <a:r>
              <a:t>Cloud-native platforms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 of Kubernetes</a:t>
            </a:r>
          </a:p>
        </p:txBody>
      </p:sp>
      <p:sp>
        <p:nvSpPr>
          <p:cNvPr id="3" name="Content Placeholder 2"/>
          <p:cNvSpPr>
            <a:spLocks noGrp="1"/>
          </p:cNvSpPr>
          <p:nvPr>
            <p:ph idx="1"/>
          </p:nvPr>
        </p:nvSpPr>
        <p:spPr/>
        <p:txBody>
          <a:bodyPr/>
          <a:lstStyle/>
          <a:p>
            <a:r>
              <a:t>Automation</a:t>
            </a:r>
          </a:p>
          <a:p>
            <a:r>
              <a:t>Reliability</a:t>
            </a:r>
          </a:p>
          <a:p>
            <a:r>
              <a:t>Scalability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in Kubernetes</a:t>
            </a:r>
          </a:p>
        </p:txBody>
      </p:sp>
      <p:sp>
        <p:nvSpPr>
          <p:cNvPr id="3" name="Content Placeholder 2"/>
          <p:cNvSpPr>
            <a:spLocks noGrp="1"/>
          </p:cNvSpPr>
          <p:nvPr>
            <p:ph idx="1"/>
          </p:nvPr>
        </p:nvSpPr>
        <p:spPr/>
        <p:txBody>
          <a:bodyPr/>
          <a:lstStyle/>
          <a:p>
            <a:r>
              <a:t>Learning curve</a:t>
            </a:r>
          </a:p>
          <a:p>
            <a:r>
              <a:t>Operational complexity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Exam-Oriented Key Points</a:t>
            </a:r>
          </a:p>
        </p:txBody>
      </p:sp>
      <p:sp>
        <p:nvSpPr>
          <p:cNvPr id="3" name="Content Placeholder 2"/>
          <p:cNvSpPr>
            <a:spLocks noGrp="1"/>
          </p:cNvSpPr>
          <p:nvPr>
            <p:ph idx="1"/>
          </p:nvPr>
        </p:nvSpPr>
        <p:spPr/>
        <p:txBody>
          <a:bodyPr/>
          <a:lstStyle/>
          <a:p>
            <a:r>
              <a:t>Cloud-native</a:t>
            </a:r>
          </a:p>
          <a:p>
            <a:r>
              <a:t>Containers</a:t>
            </a:r>
          </a:p>
          <a:p>
            <a:r>
              <a:t>Kubernetes</a:t>
            </a:r>
          </a:p>
          <a:p>
            <a:r>
              <a:t>Pod</a:t>
            </a:r>
          </a:p>
          <a:p>
            <a:r>
              <a:t>Service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of Unit 4</a:t>
            </a:r>
          </a:p>
        </p:txBody>
      </p:sp>
      <p:sp>
        <p:nvSpPr>
          <p:cNvPr id="3" name="Content Placeholder 2"/>
          <p:cNvSpPr>
            <a:spLocks noGrp="1"/>
          </p:cNvSpPr>
          <p:nvPr>
            <p:ph idx="1"/>
          </p:nvPr>
        </p:nvSpPr>
        <p:spPr/>
        <p:txBody>
          <a:bodyPr/>
          <a:lstStyle/>
          <a:p>
            <a:r>
              <a:t>Cloud-native apps are scalable</a:t>
            </a:r>
          </a:p>
          <a:p>
            <a:r>
              <a:t>Containers ensure portability</a:t>
            </a:r>
          </a:p>
          <a:p>
            <a:r>
              <a:t>Kubernetes automates deployment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Unit 4 builds strong cloud foundation</a:t>
            </a:r>
          </a:p>
          <a:p>
            <a:r>
              <a:t>Essential for modern software engineers</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79</TotalTime>
  <Words>769</Words>
  <Application>Microsoft Office PowerPoint</Application>
  <PresentationFormat>On-screen Show (4:3)</PresentationFormat>
  <Paragraphs>199</Paragraphs>
  <Slides>49</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Calibri</vt:lpstr>
      <vt:lpstr>Calibri Light</vt:lpstr>
      <vt:lpstr>Retrospect</vt:lpstr>
      <vt:lpstr>Unit 4: Application Development in the Cloud</vt:lpstr>
      <vt:lpstr>What is Cloud Application Development?</vt:lpstr>
      <vt:lpstr>Need for Cloud-Based Applications</vt:lpstr>
      <vt:lpstr>Traditional Application Architecture</vt:lpstr>
      <vt:lpstr>Monolithic Vs Microservice</vt:lpstr>
      <vt:lpstr>Limitations of Traditional Applications</vt:lpstr>
      <vt:lpstr>Cloud-Native Application Architecture</vt:lpstr>
      <vt:lpstr>Resiliency in Cloud Computing</vt:lpstr>
      <vt:lpstr>Cloud-Native Development Explained</vt:lpstr>
      <vt:lpstr>Key Principles of Cloud-Native Development</vt:lpstr>
      <vt:lpstr>Microservices Architecture</vt:lpstr>
      <vt:lpstr>Microservices Example</vt:lpstr>
      <vt:lpstr>Advantages of Microservices</vt:lpstr>
      <vt:lpstr>Challenges of Microservices</vt:lpstr>
      <vt:lpstr>Communication Between Services</vt:lpstr>
      <vt:lpstr>Scalability in Cloud Applications</vt:lpstr>
      <vt:lpstr>Scaling</vt:lpstr>
      <vt:lpstr>Resilience and Fault Tolerance</vt:lpstr>
      <vt:lpstr>Introduction to Containers</vt:lpstr>
      <vt:lpstr>Why Containers Are Needed</vt:lpstr>
      <vt:lpstr>Container Components</vt:lpstr>
      <vt:lpstr>Containers vs Virtual Machines</vt:lpstr>
      <vt:lpstr>Containers vs VM</vt:lpstr>
      <vt:lpstr>Docker Platform Overview</vt:lpstr>
      <vt:lpstr>Docker Image Lifecycle</vt:lpstr>
      <vt:lpstr>Benefits of Containers</vt:lpstr>
      <vt:lpstr>Introduction to Kubernetes</vt:lpstr>
      <vt:lpstr>Why Kubernetes is Required</vt:lpstr>
      <vt:lpstr>Kubernetes Features</vt:lpstr>
      <vt:lpstr>Kubernetes Architecture Overview</vt:lpstr>
      <vt:lpstr>Control Plane Components</vt:lpstr>
      <vt:lpstr>Worker Node Components</vt:lpstr>
      <vt:lpstr>Pod Explained</vt:lpstr>
      <vt:lpstr>Deployment Explained</vt:lpstr>
      <vt:lpstr>Kubernetes Service Explained</vt:lpstr>
      <vt:lpstr>Types of Kubernetes Services</vt:lpstr>
      <vt:lpstr>Unit 4 Practical Work</vt:lpstr>
      <vt:lpstr>Practical 2: Kubernetes Deployment</vt:lpstr>
      <vt:lpstr>Tools Used in Practical 2</vt:lpstr>
      <vt:lpstr>Application Architecture for Practical 2</vt:lpstr>
      <vt:lpstr>Deployment Workflow</vt:lpstr>
      <vt:lpstr>Scaling in Kubernetes</vt:lpstr>
      <vt:lpstr>Self-Healing in Kubernetes</vt:lpstr>
      <vt:lpstr>Real-World Use Cases</vt:lpstr>
      <vt:lpstr>Advantages of Kubernetes</vt:lpstr>
      <vt:lpstr>Challenges in Kubernetes</vt:lpstr>
      <vt:lpstr>Exam-Oriented Key Points</vt:lpstr>
      <vt:lpstr>Summary of Unit 4</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Ashok Bhattarai</dc:creator>
  <cp:keywords/>
  <dc:description>generated using python-pptx</dc:description>
  <cp:lastModifiedBy>Ashok Bhattarai</cp:lastModifiedBy>
  <cp:revision>6</cp:revision>
  <dcterms:created xsi:type="dcterms:W3CDTF">2013-01-27T09:14:16Z</dcterms:created>
  <dcterms:modified xsi:type="dcterms:W3CDTF">2025-12-30T16:24:49Z</dcterms:modified>
  <cp:category/>
</cp:coreProperties>
</file>