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7947" autoAdjust="0"/>
  </p:normalViewPr>
  <p:slideViewPr>
    <p:cSldViewPr snapToGrid="0" snapToObjects="1">
      <p:cViewPr varScale="1">
        <p:scale>
          <a:sx n="66" d="100"/>
          <a:sy n="66" d="100"/>
        </p:scale>
        <p:origin x="193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8343CE-2756-4A38-97C7-7CBF647A9F2E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ACFD82-3378-4D9E-8D82-53788728DF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Centralized powerful systems</a:t>
            </a:r>
            <a:r>
              <a:rPr lang="en-US" dirty="0"/>
              <a:t>: Handle large-scale computing tasks for organizations.</a:t>
            </a:r>
          </a:p>
          <a:p>
            <a:r>
              <a:rPr lang="en-US" b="1" dirty="0"/>
              <a:t>Dumb terminals</a:t>
            </a:r>
            <a:r>
              <a:rPr lang="en-US" dirty="0"/>
              <a:t>: Users interact through simple terminals; all processing is done on the mainframe.</a:t>
            </a:r>
          </a:p>
          <a:p>
            <a:r>
              <a:rPr lang="en-US" b="1" dirty="0"/>
              <a:t>Expensive hardware</a:t>
            </a:r>
            <a:r>
              <a:rPr lang="en-US" dirty="0"/>
              <a:t>: High initial cost and maintenance, designed for critical enterprise applications.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ACFD82-3378-4D9E-8D82-53788728DFF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8581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Time-sharing</a:t>
            </a:r>
            <a:r>
              <a:rPr lang="en-US" dirty="0"/>
              <a:t>: A technique where a computer’s processor time is divided among multiple users so that each gets a small time slice, giving the illusion of </a:t>
            </a:r>
            <a:r>
              <a:rPr lang="en-US" b="1" dirty="0"/>
              <a:t>simultaneous use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ACFD82-3378-4D9E-8D82-53788728DFF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9517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PCs + Local servers</a:t>
            </a:r>
            <a:r>
              <a:rPr lang="en-US" dirty="0"/>
              <a:t>: Computing power is distributed across personal computers and local servers rather than relying on a central mainframe.</a:t>
            </a:r>
          </a:p>
          <a:p>
            <a:r>
              <a:rPr lang="en-US" b="1" dirty="0"/>
              <a:t>Reduced load on central systems</a:t>
            </a:r>
            <a:r>
              <a:rPr lang="en-US" dirty="0"/>
              <a:t>: Tasks are handled locally, improving efficiency and reducing dependency on a single powerful system.</a:t>
            </a:r>
          </a:p>
          <a:p>
            <a:r>
              <a:rPr lang="en-US" b="1" dirty="0"/>
              <a:t>Advantages</a:t>
            </a:r>
            <a:r>
              <a:rPr lang="en-US" dirty="0"/>
              <a:t>:</a:t>
            </a:r>
          </a:p>
          <a:p>
            <a:r>
              <a:rPr lang="en-US" dirty="0"/>
              <a:t>Faster response for local users</a:t>
            </a:r>
          </a:p>
          <a:p>
            <a:r>
              <a:rPr lang="en-US" dirty="0"/>
              <a:t>Better fault tolerance (one failure doesn’t crash the entire network)</a:t>
            </a:r>
          </a:p>
          <a:p>
            <a:r>
              <a:rPr lang="en-US" dirty="0"/>
              <a:t>Scalable as more PCs/servers are added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ACFD82-3378-4D9E-8D82-53788728DFF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6897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Docker &amp; Kubernetes</a:t>
            </a:r>
            <a:endParaRPr lang="en-US" dirty="0"/>
          </a:p>
          <a:p>
            <a:r>
              <a:rPr lang="en-US" b="1" dirty="0"/>
              <a:t>Lightweight compared to VMs</a:t>
            </a:r>
            <a:r>
              <a:rPr lang="en-US" dirty="0"/>
              <a:t>: Containers share the host OS, so they use fewer resources than full virtual machines.</a:t>
            </a:r>
          </a:p>
          <a:p>
            <a:r>
              <a:rPr lang="en-US" b="1" dirty="0"/>
              <a:t>Faster deployment</a:t>
            </a:r>
            <a:r>
              <a:rPr lang="en-US" dirty="0"/>
              <a:t>: Applications can be packaged with all dependencies and deployed consistently across environments.</a:t>
            </a:r>
          </a:p>
          <a:p>
            <a:r>
              <a:rPr lang="en-US" b="1" dirty="0"/>
              <a:t>Microservices boom</a:t>
            </a:r>
            <a:r>
              <a:rPr lang="en-US" dirty="0"/>
              <a:t>: Makes it easier to develop, deploy, and scale microservices-based architectures.</a:t>
            </a:r>
          </a:p>
          <a:p>
            <a:r>
              <a:rPr lang="en-US" b="1" dirty="0"/>
              <a:t>Kubernetes</a:t>
            </a:r>
            <a:r>
              <a:rPr lang="en-US" dirty="0"/>
              <a:t>: Orchestrates containers, handling scaling, load balancing, and self-healing automatically.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ACFD82-3378-4D9E-8D82-53788728DFF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3766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Near-Device Processing</a:t>
            </a:r>
            <a:endParaRPr lang="en-US" dirty="0"/>
          </a:p>
          <a:p>
            <a:r>
              <a:rPr lang="en-US" b="1" dirty="0"/>
              <a:t>Reduced latency</a:t>
            </a:r>
            <a:r>
              <a:rPr lang="en-US" dirty="0"/>
              <a:t>: Data is processed closer to the source (device) rather than sending everything to a central server.</a:t>
            </a:r>
          </a:p>
          <a:p>
            <a:r>
              <a:rPr lang="en-US" b="1" dirty="0"/>
              <a:t>IoT expansion</a:t>
            </a:r>
            <a:r>
              <a:rPr lang="en-US" dirty="0"/>
              <a:t>: Supports the growing number of Internet of Things devices by handling data locally.</a:t>
            </a:r>
          </a:p>
          <a:p>
            <a:r>
              <a:rPr lang="en-US" b="1" dirty="0"/>
              <a:t>5G influence</a:t>
            </a:r>
            <a:r>
              <a:rPr lang="en-US" dirty="0"/>
              <a:t>: High-speed 5G networks enable faster communication between devices and edge processors.</a:t>
            </a:r>
          </a:p>
          <a:p>
            <a:r>
              <a:rPr lang="en-US" b="1" dirty="0"/>
              <a:t>Advantages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Faster decision-making</a:t>
            </a:r>
          </a:p>
          <a:p>
            <a:pPr lvl="1"/>
            <a:r>
              <a:rPr lang="en-US" dirty="0"/>
              <a:t>Lower bandwidth usage</a:t>
            </a:r>
          </a:p>
          <a:p>
            <a:pPr lvl="1"/>
            <a:r>
              <a:rPr lang="en-US" dirty="0"/>
              <a:t>Improved real-time performance</a:t>
            </a:r>
          </a:p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ACFD82-3378-4D9E-8D82-53788728DFF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9560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19848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701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850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8469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137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33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748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724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89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394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353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7064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History and Evolution of Cloud Computing</a:t>
            </a:r>
            <a:br>
              <a:rPr lang="en-US" dirty="0"/>
            </a:br>
            <a:r>
              <a:rPr dirty="0"/>
              <a:t>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Today's Topics</a:t>
            </a:r>
          </a:p>
          <a:p>
            <a:endParaRPr/>
          </a:p>
          <a:p>
            <a:r>
              <a:t>- History of Computing</a:t>
            </a:r>
          </a:p>
          <a:p>
            <a:r>
              <a:t>- Evolution of Cloud</a:t>
            </a:r>
          </a:p>
          <a:p>
            <a:r>
              <a:t>- Key Milestones</a:t>
            </a:r>
          </a:p>
          <a:p>
            <a:r>
              <a:t>- Modern Cloud Trends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Cloud Computing?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Simple Definition</a:t>
            </a:r>
          </a:p>
          <a:p>
            <a:endParaRPr/>
          </a:p>
          <a:p>
            <a:r>
              <a:t>Delivery of computing services over the internet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Early Computing Era (1950s–60s)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Mainframe Computers</a:t>
            </a:r>
          </a:p>
          <a:p>
            <a:endParaRPr dirty="0"/>
          </a:p>
          <a:p>
            <a:r>
              <a:rPr dirty="0"/>
              <a:t>- Centralized powerful systems</a:t>
            </a:r>
          </a:p>
          <a:p>
            <a:r>
              <a:rPr dirty="0"/>
              <a:t>- Dumb terminals</a:t>
            </a:r>
          </a:p>
          <a:p>
            <a:r>
              <a:rPr dirty="0"/>
              <a:t>- Expensive hardware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Time-Sharing Era (1960s)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Sharing Resources</a:t>
            </a:r>
          </a:p>
          <a:p>
            <a:endParaRPr dirty="0"/>
          </a:p>
          <a:p>
            <a:r>
              <a:rPr dirty="0"/>
              <a:t>- Multiple users use same CPU</a:t>
            </a:r>
          </a:p>
          <a:p>
            <a:r>
              <a:rPr dirty="0"/>
              <a:t>- Conceptual start of cloud</a:t>
            </a:r>
          </a:p>
          <a:p>
            <a:r>
              <a:rPr dirty="0"/>
              <a:t>- Led by MIT and IBM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Virtualization (1970s)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Breakthrough Technology</a:t>
            </a:r>
          </a:p>
          <a:p>
            <a:endParaRPr/>
          </a:p>
          <a:p>
            <a:r>
              <a:t>- IBM VM introduced</a:t>
            </a:r>
          </a:p>
          <a:p>
            <a:r>
              <a:t>- Multiple OS on one machine</a:t>
            </a:r>
          </a:p>
          <a:p>
            <a:r>
              <a:t>- Foundation of modern cloud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Client-Server Era (1980s)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Decentralized Computing</a:t>
            </a:r>
          </a:p>
          <a:p>
            <a:endParaRPr dirty="0"/>
          </a:p>
          <a:p>
            <a:r>
              <a:rPr dirty="0"/>
              <a:t>- PCs + Local servers</a:t>
            </a:r>
          </a:p>
          <a:p>
            <a:r>
              <a:rPr dirty="0"/>
              <a:t>- Reduced load on central systems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Internet Revolution (1990s)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Global Connectivity</a:t>
            </a:r>
          </a:p>
          <a:p>
            <a:endParaRPr/>
          </a:p>
          <a:p>
            <a:r>
              <a:t>- Widespread internet access</a:t>
            </a:r>
          </a:p>
          <a:p>
            <a:r>
              <a:t>- Websites and e-commerce boom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ASP Model (Late 1990s)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Application Service Providers</a:t>
            </a:r>
          </a:p>
          <a:p>
            <a:endParaRPr/>
          </a:p>
          <a:p>
            <a:r>
              <a:t>- Hosted software externally</a:t>
            </a:r>
          </a:p>
          <a:p>
            <a:r>
              <a:t>- Limited scalability</a:t>
            </a:r>
          </a:p>
          <a:p>
            <a:r>
              <a:t>- Predecessor of SaaS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Utility Computing (Early 2000s)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Pay-as-you-go Concept</a:t>
            </a:r>
          </a:p>
          <a:p>
            <a:endParaRPr/>
          </a:p>
          <a:p>
            <a:r>
              <a:t>- Companies pay based on usage</a:t>
            </a:r>
          </a:p>
          <a:p>
            <a:r>
              <a:t>- Sun Microsystems promoted it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Birth of Modern Cloud (2006)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AWS Launch</a:t>
            </a:r>
          </a:p>
          <a:p>
            <a:endParaRPr/>
          </a:p>
          <a:p>
            <a:r>
              <a:t>- S3 and EC2 introduced</a:t>
            </a:r>
          </a:p>
          <a:p>
            <a:r>
              <a:t>- On-demand computing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Google &amp; Microsoft Join (2008–2010)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Cloud Competition Begins</a:t>
            </a:r>
          </a:p>
          <a:p>
            <a:endParaRPr/>
          </a:p>
          <a:p>
            <a:r>
              <a:t>- Google App Engine</a:t>
            </a:r>
          </a:p>
          <a:p>
            <a:r>
              <a:t>- Microsoft Azure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SaaS Growth Era (2010s)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Cloud for Everyone</a:t>
            </a:r>
          </a:p>
          <a:p>
            <a:endParaRPr/>
          </a:p>
          <a:p>
            <a:r>
              <a:t>- Salesforce</a:t>
            </a:r>
          </a:p>
          <a:p>
            <a:r>
              <a:t>- Office 365</a:t>
            </a:r>
          </a:p>
          <a:p>
            <a:r>
              <a:t>- Google Workspace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Cloud Becomes Mainstream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Enterprise Adoption</a:t>
            </a:r>
          </a:p>
          <a:p>
            <a:endParaRPr/>
          </a:p>
          <a:p>
            <a:r>
              <a:t>- Cost savings</a:t>
            </a:r>
          </a:p>
          <a:p>
            <a:r>
              <a:t>- Scalability</a:t>
            </a:r>
          </a:p>
          <a:p>
            <a:r>
              <a:t>- Global availability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Service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IaaS | PaaS | SaaS</a:t>
            </a:r>
          </a:p>
          <a:p>
            <a:endParaRPr/>
          </a:p>
          <a:p>
            <a:r>
              <a:t>- Layers of cloud service</a:t>
            </a:r>
          </a:p>
          <a:p>
            <a:r>
              <a:t>- Different levels of control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Public | Private | Hybrid | Community</a:t>
            </a:r>
          </a:p>
          <a:p>
            <a:endParaRPr/>
          </a:p>
          <a:p>
            <a:r>
              <a:t>- Ownership and access variations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Virtualization Explained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Why It's Important</a:t>
            </a:r>
          </a:p>
          <a:p>
            <a:endParaRPr/>
          </a:p>
          <a:p>
            <a:r>
              <a:t>- Resource isolation</a:t>
            </a:r>
          </a:p>
          <a:p>
            <a:r>
              <a:t>- VM provisioning</a:t>
            </a:r>
          </a:p>
          <a:p>
            <a:r>
              <a:t>- Efficiency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Containerization (2013+)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Docker &amp; Kubernetes</a:t>
            </a:r>
          </a:p>
          <a:p>
            <a:endParaRPr dirty="0"/>
          </a:p>
          <a:p>
            <a:r>
              <a:rPr dirty="0"/>
              <a:t>- Lightweight compared to VMs</a:t>
            </a:r>
          </a:p>
          <a:p>
            <a:r>
              <a:rPr dirty="0"/>
              <a:t>- Faster deployment</a:t>
            </a:r>
          </a:p>
          <a:p>
            <a:r>
              <a:rPr dirty="0"/>
              <a:t>- Microservices boom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Serverless Era (2015+)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Function-as-a-Service</a:t>
            </a:r>
          </a:p>
          <a:p>
            <a:endParaRPr dirty="0"/>
          </a:p>
          <a:p>
            <a:r>
              <a:rPr dirty="0"/>
              <a:t>- No server management</a:t>
            </a:r>
          </a:p>
          <a:p>
            <a:r>
              <a:rPr dirty="0"/>
              <a:t>- Pay only for execution time</a:t>
            </a:r>
          </a:p>
          <a:p>
            <a:r>
              <a:rPr dirty="0"/>
              <a:t>- AWS Lambda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+ Cloud Integration (2020s)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Smart Cloud</a:t>
            </a:r>
          </a:p>
          <a:p>
            <a:endParaRPr dirty="0"/>
          </a:p>
          <a:p>
            <a:r>
              <a:rPr dirty="0"/>
              <a:t>- AI/ML services</a:t>
            </a:r>
          </a:p>
          <a:p>
            <a:r>
              <a:rPr dirty="0"/>
              <a:t>- Automation</a:t>
            </a:r>
          </a:p>
          <a:p>
            <a:r>
              <a:rPr dirty="0"/>
              <a:t>- Predictive infrastructure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Edge Computing Rise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Near-Device Processing</a:t>
            </a:r>
          </a:p>
          <a:p>
            <a:endParaRPr dirty="0"/>
          </a:p>
          <a:p>
            <a:r>
              <a:rPr dirty="0"/>
              <a:t>- Reduced latency</a:t>
            </a:r>
          </a:p>
          <a:p>
            <a:r>
              <a:rPr dirty="0"/>
              <a:t>- IoT expansion</a:t>
            </a:r>
          </a:p>
          <a:p>
            <a:r>
              <a:rPr dirty="0"/>
              <a:t>- 5G influence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Cloud Security Evolution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Shared Responsibility Model</a:t>
            </a:r>
          </a:p>
          <a:p>
            <a:endParaRPr dirty="0"/>
          </a:p>
          <a:p>
            <a:r>
              <a:rPr dirty="0"/>
              <a:t>- Provider vs Customer roles</a:t>
            </a:r>
          </a:p>
          <a:p>
            <a:r>
              <a:rPr dirty="0"/>
              <a:t>- Zero trust architecture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of Cloud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Emerging Trends</a:t>
            </a:r>
          </a:p>
          <a:p>
            <a:endParaRPr dirty="0"/>
          </a:p>
          <a:p>
            <a:r>
              <a:rPr dirty="0"/>
              <a:t>- Quantum cloud</a:t>
            </a:r>
          </a:p>
          <a:p>
            <a:r>
              <a:rPr dirty="0"/>
              <a:t>- Multi-cloud dominance</a:t>
            </a:r>
          </a:p>
          <a:p>
            <a:r>
              <a:rPr dirty="0"/>
              <a:t>- Industry-specific clouds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28</TotalTime>
  <Words>676</Words>
  <Application>Microsoft Office PowerPoint</Application>
  <PresentationFormat>On-screen Show (4:3)</PresentationFormat>
  <Paragraphs>153</Paragraphs>
  <Slides>24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Calibri</vt:lpstr>
      <vt:lpstr>Calibri Light</vt:lpstr>
      <vt:lpstr>Retrospect</vt:lpstr>
      <vt:lpstr>History and Evolution of Cloud Computing  </vt:lpstr>
      <vt:lpstr>Agenda</vt:lpstr>
      <vt:lpstr>What is Cloud Computing?</vt:lpstr>
      <vt:lpstr>Early Computing Era (1950s–60s)</vt:lpstr>
      <vt:lpstr>Time-Sharing Era (1960s)</vt:lpstr>
      <vt:lpstr>Virtualization (1970s)</vt:lpstr>
      <vt:lpstr>Client-Server Era (1980s)</vt:lpstr>
      <vt:lpstr>Internet Revolution (1990s)</vt:lpstr>
      <vt:lpstr>ASP Model (Late 1990s)</vt:lpstr>
      <vt:lpstr>Utility Computing (Early 2000s)</vt:lpstr>
      <vt:lpstr>Birth of Modern Cloud (2006)</vt:lpstr>
      <vt:lpstr>Google &amp; Microsoft Join (2008–2010)</vt:lpstr>
      <vt:lpstr>SaaS Growth Era (2010s)</vt:lpstr>
      <vt:lpstr>Cloud Becomes Mainstream</vt:lpstr>
      <vt:lpstr>Service Models</vt:lpstr>
      <vt:lpstr>Deployment Models</vt:lpstr>
      <vt:lpstr>Virtualization Explained</vt:lpstr>
      <vt:lpstr>Containerization (2013+)</vt:lpstr>
      <vt:lpstr>Serverless Era (2015+)</vt:lpstr>
      <vt:lpstr>AI + Cloud Integration (2020s)</vt:lpstr>
      <vt:lpstr>Edge Computing Rise</vt:lpstr>
      <vt:lpstr>Cloud Security Evolution</vt:lpstr>
      <vt:lpstr>Future of Cloud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Ashok Bhattarai</dc:creator>
  <cp:keywords/>
  <dc:description>generated using python-pptx</dc:description>
  <cp:lastModifiedBy>Ashok Bhattarai</cp:lastModifiedBy>
  <cp:revision>5</cp:revision>
  <dcterms:created xsi:type="dcterms:W3CDTF">2013-01-27T09:14:16Z</dcterms:created>
  <dcterms:modified xsi:type="dcterms:W3CDTF">2025-11-26T16:00:28Z</dcterms:modified>
  <cp:category/>
</cp:coreProperties>
</file>